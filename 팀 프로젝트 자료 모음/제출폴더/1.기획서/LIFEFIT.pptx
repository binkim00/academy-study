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Relationship Id="rId5" Type="http://schemas.openxmlformats.org/officeDocument/2006/relationships/custom-properties" Target="docProps/custom.xml"></Relationship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xmlns:p14="http://schemas.microsoft.com/office/powerpoint/2010/main">
  <p:sldMasterIdLst>
    <p:sldMasterId id="2147483660" r:id="rId13"/>
  </p:sld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58" userDrawn="1">
          <p15:clr>
            <a:srgbClr val="A4A3A4"/>
          </p15:clr>
        </p15:guide>
        <p15:guide id="1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lastView="sldView">
  <p:normalViewPr>
    <p:restoredLeft sz="15620" autoAdjust="0"/>
    <p:restoredTop sz="94622" autoAdjust="0"/>
  </p:normalViewPr>
  <p:slideViewPr>
    <p:cSldViewPr snapToGrid="1" snapToObjects="1">
      <p:cViewPr>
        <p:scale>
          <a:sx n="50" d="100"/>
          <a:sy n="50" d="100"/>
        </p:scale>
        <p:origin x="-1092" y="-90"/>
      </p:cViewPr>
      <p:guideLst>
        <p:guide orient="horz" pos="2158"/>
        <p:guide pos="28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slide" Target="slides/slide1.xml"></Relationship><Relationship Id="rId16" Type="http://schemas.openxmlformats.org/officeDocument/2006/relationships/slide" Target="slides/slide2.xml"></Relationship><Relationship Id="rId17" Type="http://schemas.openxmlformats.org/officeDocument/2006/relationships/slide" Target="slides/slide3.xml"></Relationship><Relationship Id="rId18" Type="http://schemas.openxmlformats.org/officeDocument/2006/relationships/slide" Target="slides/slide4.xml"></Relationship><Relationship Id="rId19" Type="http://schemas.openxmlformats.org/officeDocument/2006/relationships/slide" Target="slides/slide5.xml"></Relationship><Relationship Id="rId20" Type="http://schemas.openxmlformats.org/officeDocument/2006/relationships/slide" Target="slides/slide6.xml"></Relationship><Relationship Id="rId21" Type="http://schemas.openxmlformats.org/officeDocument/2006/relationships/slide" Target="slides/slide7.xml"></Relationship><Relationship Id="rId22" Type="http://schemas.openxmlformats.org/officeDocument/2006/relationships/slide" Target="slides/slide8.xml"></Relationship><Relationship Id="rId23" Type="http://schemas.openxmlformats.org/officeDocument/2006/relationships/viewProps" Target="viewProps.xml"></Relationship><Relationship Id="rId24" Type="http://schemas.openxmlformats.org/officeDocument/2006/relationships/presProps" Target="presProps.xml"></Relationship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9.png"  /><Relationship Id="rId11" Type="http://schemas.openxmlformats.org/officeDocument/2006/relationships/image" Target="../media/image10.png"  /><Relationship Id="rId12" Type="http://schemas.openxmlformats.org/officeDocument/2006/relationships/image" Target="../media/image11.png"  /><Relationship Id="rId13" Type="http://schemas.openxmlformats.org/officeDocument/2006/relationships/image" Target="../media/image12.png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Relationship Id="rId9" Type="http://schemas.openxmlformats.org/officeDocument/2006/relationships/image" Target="../media/image8.png"  /></Relationships>
</file>

<file path=ppt/slides/_rels/slide2.xml.rels><?xml version="1.0" encoding="UTF-8"?>
<Relationships xmlns="http://schemas.openxmlformats.org/package/2006/relationships"><Relationship Id="rId2" Type="http://schemas.openxmlformats.org/officeDocument/2006/relationships/image" Target="../media/image1.png"></Relationship><Relationship Id="rId3" Type="http://schemas.openxmlformats.org/officeDocument/2006/relationships/image" Target="../media/image2.png"></Relationship><Relationship Id="rId4" Type="http://schemas.openxmlformats.org/officeDocument/2006/relationships/image" Target="../media/image3.png"></Relationship><Relationship Id="rId5" Type="http://schemas.openxmlformats.org/officeDocument/2006/relationships/image" Target="../media/image4.png"></Relationship><Relationship Id="rId6" Type="http://schemas.openxmlformats.org/officeDocument/2006/relationships/image" Target="../media/image5.png"></Relationship><Relationship Id="rId7" Type="http://schemas.openxmlformats.org/officeDocument/2006/relationships/image" Target="../media/image6.png"></Relationship><Relationship Id="rId8" Type="http://schemas.openxmlformats.org/officeDocument/2006/relationships/image" Target="../media/image7.png"></Relationship><Relationship Id="rId9" Type="http://schemas.openxmlformats.org/officeDocument/2006/relationships/image" Target="../media/image13.png"></Relationship><Relationship Id="rId10" Type="http://schemas.openxmlformats.org/officeDocument/2006/relationships/slideLayout" Target="../slideLayouts/slideLayout7.xml"></Relationship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5.png"  /><Relationship Id="rId11" Type="http://schemas.openxmlformats.org/officeDocument/2006/relationships/image" Target="../media/image16.png"  /><Relationship Id="rId12" Type="http://schemas.openxmlformats.org/officeDocument/2006/relationships/image" Target="../media/image17.png"  /><Relationship Id="rId13" Type="http://schemas.openxmlformats.org/officeDocument/2006/relationships/image" Target="../media/image18.png"  /><Relationship Id="rId14" Type="http://schemas.openxmlformats.org/officeDocument/2006/relationships/image" Target="../media/image19.png"  /><Relationship Id="rId15" Type="http://schemas.openxmlformats.org/officeDocument/2006/relationships/image" Target="../media/image20.png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Relationship Id="rId9" Type="http://schemas.openxmlformats.org/officeDocument/2006/relationships/image" Target="../media/image14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23.png"  /><Relationship Id="rId11" Type="http://schemas.openxmlformats.org/officeDocument/2006/relationships/image" Target="../media/image24.png"  /><Relationship Id="rId12" Type="http://schemas.openxmlformats.org/officeDocument/2006/relationships/image" Target="../media/image25.png"  /><Relationship Id="rId13" Type="http://schemas.openxmlformats.org/officeDocument/2006/relationships/image" Target="../media/image26.png"  /><Relationship Id="rId14" Type="http://schemas.openxmlformats.org/officeDocument/2006/relationships/image" Target="../media/image27.png"  /><Relationship Id="rId15" Type="http://schemas.openxmlformats.org/officeDocument/2006/relationships/image" Target="../media/image28.png"  /><Relationship Id="rId16" Type="http://schemas.openxmlformats.org/officeDocument/2006/relationships/image" Target="../media/image29.png"  /><Relationship Id="rId17" Type="http://schemas.openxmlformats.org/officeDocument/2006/relationships/image" Target="../media/image30.png"  /><Relationship Id="rId18" Type="http://schemas.openxmlformats.org/officeDocument/2006/relationships/image" Target="../media/image31.png"  /><Relationship Id="rId2" Type="http://schemas.openxmlformats.org/officeDocument/2006/relationships/image" Target="../media/image2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Relationship Id="rId9" Type="http://schemas.openxmlformats.org/officeDocument/2006/relationships/image" Target="../media/image2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33.png"  /><Relationship Id="rId11" Type="http://schemas.openxmlformats.org/officeDocument/2006/relationships/image" Target="../media/image34.png"  /><Relationship Id="rId12" Type="http://schemas.openxmlformats.org/officeDocument/2006/relationships/image" Target="../media/image35.png"  /><Relationship Id="rId13" Type="http://schemas.openxmlformats.org/officeDocument/2006/relationships/image" Target="../media/image36.png"  /><Relationship Id="rId14" Type="http://schemas.openxmlformats.org/officeDocument/2006/relationships/image" Target="../media/image37.png"  /><Relationship Id="rId15" Type="http://schemas.openxmlformats.org/officeDocument/2006/relationships/image" Target="../media/image38.png"  /><Relationship Id="rId16" Type="http://schemas.openxmlformats.org/officeDocument/2006/relationships/image" Target="../media/image39.png"  /><Relationship Id="rId17" Type="http://schemas.openxmlformats.org/officeDocument/2006/relationships/image" Target="../media/image40.png"  /><Relationship Id="rId18" Type="http://schemas.openxmlformats.org/officeDocument/2006/relationships/image" Target="../media/image41.png"  /><Relationship Id="rId19" Type="http://schemas.openxmlformats.org/officeDocument/2006/relationships/image" Target="../media/image42.png"  /><Relationship Id="rId2" Type="http://schemas.openxmlformats.org/officeDocument/2006/relationships/image" Target="../media/image21.png"  /><Relationship Id="rId20" Type="http://schemas.openxmlformats.org/officeDocument/2006/relationships/image" Target="../media/image43.png"  /><Relationship Id="rId21" Type="http://schemas.openxmlformats.org/officeDocument/2006/relationships/image" Target="../media/image44.png"  /><Relationship Id="rId22" Type="http://schemas.openxmlformats.org/officeDocument/2006/relationships/image" Target="../media/image45.png"  /><Relationship Id="rId23" Type="http://schemas.openxmlformats.org/officeDocument/2006/relationships/image" Target="../media/image46.png"  /><Relationship Id="rId24" Type="http://schemas.openxmlformats.org/officeDocument/2006/relationships/image" Target="../media/image47.png"  /><Relationship Id="rId25" Type="http://schemas.openxmlformats.org/officeDocument/2006/relationships/image" Target="../media/image48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Relationship Id="rId9" Type="http://schemas.openxmlformats.org/officeDocument/2006/relationships/image" Target="../media/image32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49.png"  /><Relationship Id="rId11" Type="http://schemas.openxmlformats.org/officeDocument/2006/relationships/image" Target="../media/image50.png"  /><Relationship Id="rId12" Type="http://schemas.openxmlformats.org/officeDocument/2006/relationships/image" Target="../media/image51.png"  /><Relationship Id="rId13" Type="http://schemas.openxmlformats.org/officeDocument/2006/relationships/image" Target="../media/image52.png"  /><Relationship Id="rId14" Type="http://schemas.openxmlformats.org/officeDocument/2006/relationships/image" Target="../media/image53.png"  /><Relationship Id="rId2" Type="http://schemas.openxmlformats.org/officeDocument/2006/relationships/image" Target="../media/image2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Relationship Id="rId9" Type="http://schemas.openxmlformats.org/officeDocument/2006/relationships/image" Target="../media/image33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54.png"  /><Relationship Id="rId11" Type="http://schemas.openxmlformats.org/officeDocument/2006/relationships/image" Target="../media/image54.png"  /><Relationship Id="rId12" Type="http://schemas.openxmlformats.org/officeDocument/2006/relationships/image" Target="../media/image54.png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Relationship Id="rId9" Type="http://schemas.openxmlformats.org/officeDocument/2006/relationships/image" Target="../media/image54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Relationship Id="rId9" Type="http://schemas.openxmlformats.org/officeDocument/2006/relationships/image" Target="../media/image55.png" 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57200" y="431800"/>
            <a:ext cx="17360900" cy="9423400"/>
          </a:xfrm>
          <a:prstGeom prst="rect">
            <a:avLst/>
          </a:prstGeom>
          <a:effectLst>
            <a:outerShdw dir="4020000" dist="362644" blurRad="1106733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39800" y="774700"/>
            <a:ext cx="228600" cy="22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08100" y="774700"/>
            <a:ext cx="228600" cy="22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63700" y="774700"/>
            <a:ext cx="2286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473700" y="6350000"/>
            <a:ext cx="1193800" cy="1193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572500" y="6350000"/>
            <a:ext cx="1181100" cy="1181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274300" y="6985000"/>
            <a:ext cx="673100" cy="596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645900" y="6489700"/>
            <a:ext cx="914400" cy="914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175500" y="6781800"/>
            <a:ext cx="1003300" cy="10033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6845300" y="698500"/>
            <a:ext cx="4597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Medium"/>
              </a:rPr>
              <a:t>Spring </a:t>
            </a:r>
            <a:r>
              <a:rPr lang="ko-KR" sz="2000" b="false" i="false" u="none" strike="noStrike">
                <a:solidFill>
                  <a:srgbClr val="FFFFFF"/>
                </a:solidFill>
                <a:ea typeface="Pretendard Medium"/>
              </a:rPr>
              <a:t>백엔드</a:t>
            </a:r>
            <a:r>
              <a:rPr lang="en-US" sz="2000" b="false" i="false" u="none" strike="noStrike">
                <a:solidFill>
                  <a:srgbClr val="FFFFFF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Pretendard Medium"/>
              </a:rPr>
              <a:t>개발</a:t>
            </a:r>
            <a:r>
              <a:rPr lang="en-US" sz="2000" b="false" i="false" u="none" strike="noStrike">
                <a:solidFill>
                  <a:srgbClr val="FFFFFF"/>
                </a:solidFill>
                <a:latin typeface="Pretendard Medium"/>
              </a:rPr>
              <a:t> &amp; AWS </a:t>
            </a:r>
            <a:r>
              <a:rPr lang="ko-KR" sz="2000" b="false" i="false" u="none" strike="noStrike">
                <a:solidFill>
                  <a:srgbClr val="FFFFFF"/>
                </a:solidFill>
                <a:ea typeface="Pretendard Medium"/>
              </a:rPr>
              <a:t>배포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35300" y="3670300"/>
            <a:ext cx="12230100" cy="800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4500" b="false" i="false" u="none" strike="noStrike">
                <a:solidFill>
                  <a:srgbClr val="494A4E"/>
                </a:solidFill>
                <a:latin typeface="ELAND NiceOTF Medium"/>
              </a:rPr>
              <a:t>Spring </a:t>
            </a:r>
            <a:r>
              <a:rPr lang="ko-KR" sz="4500" b="false" i="false" u="none" strike="noStrike">
                <a:solidFill>
                  <a:srgbClr val="494A4E"/>
                </a:solidFill>
                <a:ea typeface="ELAND NiceOTF Medium"/>
              </a:rPr>
              <a:t>백엔드</a:t>
            </a:r>
            <a:r>
              <a:rPr lang="en-US" sz="4500" b="false" i="false" u="none" strike="noStrike">
                <a:solidFill>
                  <a:srgbClr val="494A4E"/>
                </a:solidFill>
                <a:latin typeface="ELAND NiceOTF Medium"/>
              </a:rPr>
              <a:t> </a:t>
            </a:r>
            <a:r>
              <a:rPr lang="ko-KR" sz="4500" b="false" i="false" u="none" strike="noStrike">
                <a:solidFill>
                  <a:srgbClr val="494A4E"/>
                </a:solidFill>
                <a:ea typeface="ELAND NiceOTF Medium"/>
              </a:rPr>
              <a:t>개발</a:t>
            </a:r>
            <a:r>
              <a:rPr lang="en-US" sz="4500" b="false" i="false" u="none" strike="noStrike">
                <a:solidFill>
                  <a:srgbClr val="494A4E"/>
                </a:solidFill>
                <a:latin typeface="ELAND NiceOTF Medium"/>
              </a:rPr>
              <a:t> &amp; AWS </a:t>
            </a:r>
            <a:r>
              <a:rPr lang="ko-KR" sz="4500" b="false" i="false" u="none" strike="noStrike">
                <a:solidFill>
                  <a:srgbClr val="494A4E"/>
                </a:solidFill>
                <a:ea typeface="ELAND NiceOTF Medium"/>
              </a:rPr>
              <a:t>배포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71800" y="4457700"/>
            <a:ext cx="12344400" cy="160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9000" b="false" i="false" u="none" strike="noStrike">
                <a:solidFill>
                  <a:srgbClr val="000000"/>
                </a:solidFill>
                <a:ea typeface="ELAND NiceOTF Medium"/>
              </a:rPr>
              <a:t>라이프핏</a:t>
            </a:r>
            <a:r>
              <a:rPr lang="en-US" sz="9000" b="false" i="false" u="none" strike="noStrike">
                <a:solidFill>
                  <a:srgbClr val="000000"/>
                </a:solidFill>
                <a:latin typeface="ELAND NiceOTF Medium"/>
              </a:rPr>
              <a:t> (Life FIT)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57200" y="431800"/>
            <a:ext cx="17360900" cy="9423400"/>
          </a:xfrm>
          <a:prstGeom prst="rect">
            <a:avLst/>
          </a:prstGeom>
          <a:effectLst>
            <a:outerShdw dir="4020000" dist="362644" blurRad="1106733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71600" y="8102600"/>
            <a:ext cx="1003300" cy="8890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>
            <a:off x="6845300" y="698500"/>
            <a:ext cx="4598035" cy="356235"/>
          </a:xfrm>
          <a:prstGeom prst="rect">
            <a:avLst/>
          </a:prstGeom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en-US" sz="2000" i="0" b="0" strike="noStrike">
                <a:solidFill>
                  <a:srgbClr val="FFFFFF"/>
                </a:solidFill>
                <a:latin typeface="Pretendard Light" charset="0"/>
              </a:rPr>
              <a:t>Spring </a:t>
            </a:r>
            <a:r>
              <a:rPr lang="ko-KR" sz="2000" i="0" b="0" strike="noStrike">
                <a:solidFill>
                  <a:srgbClr val="FFFFFF"/>
                </a:solidFill>
                <a:ea typeface="Pretendard Light" charset="0"/>
              </a:rPr>
              <a:t>백엔드</a:t>
            </a:r>
            <a:r>
              <a:rPr lang="en-US" sz="2000" i="0" b="0" strike="noStrike">
                <a:solidFill>
                  <a:srgbClr val="FFFFFF"/>
                </a:solidFill>
                <a:latin typeface="Pretendard Light" charset="0"/>
              </a:rPr>
              <a:t> </a:t>
            </a:r>
            <a:r>
              <a:rPr lang="ko-KR" sz="2000" i="0" b="0" strike="noStrike">
                <a:solidFill>
                  <a:srgbClr val="FFFFFF"/>
                </a:solidFill>
                <a:ea typeface="Pretendard Light" charset="0"/>
              </a:rPr>
              <a:t>개발</a:t>
            </a:r>
            <a:r>
              <a:rPr lang="en-US" sz="2000" i="0" b="0" strike="noStrike">
                <a:solidFill>
                  <a:srgbClr val="FFFFFF"/>
                </a:solidFill>
                <a:latin typeface="Pretendard Light" charset="0"/>
              </a:rPr>
              <a:t> &amp; AWS </a:t>
            </a:r>
            <a:r>
              <a:rPr lang="ko-KR" sz="2000" i="0" b="0" strike="noStrike">
                <a:solidFill>
                  <a:srgbClr val="FFFFFF"/>
                </a:solidFill>
                <a:ea typeface="Pretendard Light" charset="0"/>
              </a:rPr>
              <a:t>배포</a:t>
            </a:r>
            <a:endParaRPr lang="ko-KR" altLang="en-US" sz="2000" i="0" b="0" strike="noStrike">
              <a:solidFill>
                <a:srgbClr val="FFFFFF"/>
              </a:solidFill>
              <a:ea typeface="Pretendard Light" charset="0"/>
            </a:endParaRPr>
          </a:p>
        </p:txBody>
      </p:sp>
      <p:sp>
        <p:nvSpPr>
          <p:cNvPr id="11" name="TextBox 11"/>
          <p:cNvSpPr txBox="true"/>
          <p:nvPr/>
        </p:nvSpPr>
        <p:spPr>
          <a:xfrm rot="0">
            <a:off x="9499600" y="2717800"/>
            <a:ext cx="6667500" cy="647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3600" b="false" i="false" u="none" strike="noStrike">
                <a:solidFill>
                  <a:srgbClr val="242629"/>
                </a:solidFill>
                <a:latin typeface="ELAND NiceOTF Medium"/>
              </a:rPr>
              <a:t>01.</a:t>
            </a:r>
            <a:r>
              <a:rPr lang="ko-KR" sz="3600" b="false" i="false" u="none" strike="noStrike">
                <a:solidFill>
                  <a:srgbClr val="242629"/>
                </a:solidFill>
                <a:ea typeface="ELAND NiceOTF Medium"/>
              </a:rPr>
              <a:t>주제</a:t>
            </a:r>
            <a:r>
              <a:rPr lang="en-US" sz="3600" b="false" i="false" u="none" strike="noStrike">
                <a:solidFill>
                  <a:srgbClr val="242629"/>
                </a:solidFill>
                <a:latin typeface="ELAND NiceOTF Medium"/>
              </a:rPr>
              <a:t> </a:t>
            </a:r>
            <a:r>
              <a:rPr lang="ko-KR" sz="3600" b="false" i="false" u="none" strike="noStrike">
                <a:solidFill>
                  <a:srgbClr val="242629"/>
                </a:solidFill>
                <a:ea typeface="ELAND NiceOTF Medium"/>
              </a:rPr>
              <a:t>및</a:t>
            </a:r>
            <a:r>
              <a:rPr lang="en-US" sz="3600" b="false" i="false" u="none" strike="noStrike">
                <a:solidFill>
                  <a:srgbClr val="242629"/>
                </a:solidFill>
                <a:latin typeface="ELAND NiceOTF Medium"/>
              </a:rPr>
              <a:t> </a:t>
            </a:r>
            <a:r>
              <a:rPr lang="ko-KR" sz="3600" b="false" i="false" u="none" strike="noStrike">
                <a:solidFill>
                  <a:srgbClr val="242629"/>
                </a:solidFill>
                <a:ea typeface="ELAND NiceOTF Medium"/>
              </a:rPr>
              <a:t>개발</a:t>
            </a:r>
            <a:r>
              <a:rPr lang="en-US" sz="3600" b="false" i="false" u="none" strike="noStrike">
                <a:solidFill>
                  <a:srgbClr val="242629"/>
                </a:solidFill>
                <a:latin typeface="ELAND NiceOTF Medium"/>
              </a:rPr>
              <a:t> </a:t>
            </a:r>
            <a:r>
              <a:rPr lang="ko-KR" sz="3600" b="false" i="false" u="none" strike="noStrike">
                <a:solidFill>
                  <a:srgbClr val="242629"/>
                </a:solidFill>
                <a:ea typeface="ELAND NiceOTF Medium"/>
              </a:rPr>
              <a:t>배경</a:t>
            </a:r>
          </a:p>
        </p:txBody>
      </p:sp>
      <p:sp>
        <p:nvSpPr>
          <p:cNvPr id="12" name="TextBox 12"/>
          <p:cNvSpPr txBox="true"/>
          <p:nvPr/>
        </p:nvSpPr>
        <p:spPr>
          <a:xfrm rot="0">
            <a:off x="9499600" y="3695700"/>
            <a:ext cx="6667500" cy="647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3600" b="false" i="false" u="none" strike="noStrike">
                <a:solidFill>
                  <a:srgbClr val="242629"/>
                </a:solidFill>
                <a:latin typeface="ELAND NiceOTF Medium"/>
              </a:rPr>
              <a:t>02.</a:t>
            </a:r>
            <a:r>
              <a:rPr lang="ko-KR" sz="3600" b="false" i="false" u="none" strike="noStrike">
                <a:solidFill>
                  <a:srgbClr val="242629"/>
                </a:solidFill>
                <a:ea typeface="ELAND NiceOTF Medium"/>
              </a:rPr>
              <a:t>개발</a:t>
            </a:r>
            <a:r>
              <a:rPr lang="en-US" sz="3600" b="false" i="false" u="none" strike="noStrike">
                <a:solidFill>
                  <a:srgbClr val="242629"/>
                </a:solidFill>
                <a:latin typeface="ELAND NiceOTF Medium"/>
              </a:rPr>
              <a:t> </a:t>
            </a:r>
            <a:r>
              <a:rPr lang="ko-KR" sz="3600" b="false" i="false" u="none" strike="noStrike">
                <a:solidFill>
                  <a:srgbClr val="242629"/>
                </a:solidFill>
                <a:ea typeface="ELAND NiceOTF Medium"/>
              </a:rPr>
              <a:t>목적</a:t>
            </a:r>
          </a:p>
        </p:txBody>
      </p:sp>
      <p:sp>
        <p:nvSpPr>
          <p:cNvPr id="13" name="TextBox 13"/>
          <p:cNvSpPr txBox="true"/>
          <p:nvPr/>
        </p:nvSpPr>
        <p:spPr>
          <a:xfrm rot="0">
            <a:off x="9499600" y="4699000"/>
            <a:ext cx="6667500" cy="647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3600" b="false" i="false" u="none" strike="noStrike">
                <a:solidFill>
                  <a:srgbClr val="242629"/>
                </a:solidFill>
                <a:latin typeface="ELAND NiceOTF Medium"/>
              </a:rPr>
              <a:t>03.</a:t>
            </a:r>
            <a:r>
              <a:rPr lang="ko-KR" sz="3600" b="false" i="false" u="none" strike="noStrike">
                <a:solidFill>
                  <a:srgbClr val="242629"/>
                </a:solidFill>
                <a:ea typeface="ELAND NiceOTF Medium"/>
              </a:rPr>
              <a:t>개발환경</a:t>
            </a:r>
          </a:p>
        </p:txBody>
      </p:sp>
      <p:sp>
        <p:nvSpPr>
          <p:cNvPr id="14" name="TextBox 14"/>
          <p:cNvSpPr txBox="true"/>
          <p:nvPr/>
        </p:nvSpPr>
        <p:spPr>
          <a:xfrm rot="0">
            <a:off x="9499600" y="5651500"/>
            <a:ext cx="6667500" cy="647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3600" b="false" i="false" u="none" strike="noStrike">
                <a:solidFill>
                  <a:srgbClr val="242629"/>
                </a:solidFill>
                <a:latin typeface="ELAND NiceOTF Medium"/>
              </a:rPr>
              <a:t>04.</a:t>
            </a:r>
            <a:r>
              <a:rPr lang="ko-KR" sz="3600" b="false" i="false" u="none" strike="noStrike">
                <a:solidFill>
                  <a:srgbClr val="242629"/>
                </a:solidFill>
                <a:ea typeface="ELAND NiceOTF Medium"/>
              </a:rPr>
              <a:t>기능</a:t>
            </a:r>
            <a:r>
              <a:rPr lang="en-US" sz="3600" b="false" i="false" u="none" strike="noStrike">
                <a:solidFill>
                  <a:srgbClr val="242629"/>
                </a:solidFill>
                <a:latin typeface="ELAND NiceOTF Medium"/>
              </a:rPr>
              <a:t> </a:t>
            </a:r>
            <a:r>
              <a:rPr lang="ko-KR" sz="3600" b="false" i="false" u="none" strike="noStrike">
                <a:solidFill>
                  <a:srgbClr val="242629"/>
                </a:solidFill>
                <a:ea typeface="ELAND NiceOTF Medium"/>
              </a:rPr>
              <a:t>설계</a:t>
            </a:r>
          </a:p>
        </p:txBody>
      </p:sp>
      <p:sp>
        <p:nvSpPr>
          <p:cNvPr id="15" name="TextBox 15"/>
          <p:cNvSpPr txBox="true"/>
          <p:nvPr/>
        </p:nvSpPr>
        <p:spPr>
          <a:xfrm rot="0">
            <a:off x="9486900" y="6642100"/>
            <a:ext cx="6667500" cy="647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3600" b="false" i="false" u="none" strike="noStrike">
                <a:solidFill>
                  <a:srgbClr val="242629"/>
                </a:solidFill>
                <a:latin typeface="ELAND NiceOTF Medium"/>
              </a:rPr>
              <a:t>05.</a:t>
            </a:r>
            <a:r>
              <a:rPr lang="ko-KR" sz="3600" b="false" i="false" u="none" strike="noStrike">
                <a:solidFill>
                  <a:srgbClr val="242629"/>
                </a:solidFill>
                <a:ea typeface="ELAND NiceOTF Medium"/>
              </a:rPr>
              <a:t>팀원</a:t>
            </a:r>
            <a:r>
              <a:rPr lang="en-US" sz="3600" b="false" i="false" u="none" strike="noStrike">
                <a:solidFill>
                  <a:srgbClr val="242629"/>
                </a:solidFill>
                <a:latin typeface="ELAND NiceOTF Medium"/>
              </a:rPr>
              <a:t> </a:t>
            </a:r>
            <a:r>
              <a:rPr lang="ko-KR" sz="3600" b="false" i="false" u="none" strike="noStrike">
                <a:solidFill>
                  <a:srgbClr val="242629"/>
                </a:solidFill>
                <a:ea typeface="ELAND NiceOTF Medium"/>
              </a:rPr>
              <a:t>소개</a:t>
            </a:r>
            <a:r>
              <a:rPr lang="en-US" sz="3600" b="false" i="false" u="none" strike="noStrike">
                <a:solidFill>
                  <a:srgbClr val="242629"/>
                </a:solidFill>
                <a:latin typeface="ELAND NiceOTF Medium"/>
              </a:rPr>
              <a:t> </a:t>
            </a:r>
            <a:r>
              <a:rPr lang="ko-KR" sz="3600" b="false" i="false" u="none" strike="noStrike">
                <a:solidFill>
                  <a:srgbClr val="242629"/>
                </a:solidFill>
                <a:ea typeface="ELAND NiceOTF Medium"/>
              </a:rPr>
              <a:t>및</a:t>
            </a:r>
            <a:r>
              <a:rPr lang="en-US" sz="3600" b="false" i="false" u="none" strike="noStrike">
                <a:solidFill>
                  <a:srgbClr val="242629"/>
                </a:solidFill>
                <a:latin typeface="ELAND NiceOTF Medium"/>
              </a:rPr>
              <a:t> </a:t>
            </a:r>
            <a:r>
              <a:rPr lang="ko-KR" sz="3600" b="false" i="false" u="none" strike="noStrike">
                <a:solidFill>
                  <a:srgbClr val="242629"/>
                </a:solidFill>
                <a:ea typeface="ELAND NiceOTF Medium"/>
              </a:rPr>
              <a:t>역할</a:t>
            </a:r>
            <a:r>
              <a:rPr lang="en-US" sz="3600" b="false" i="false" u="none" strike="noStrike">
                <a:solidFill>
                  <a:srgbClr val="242629"/>
                </a:solidFill>
                <a:latin typeface="ELAND NiceOTF Medium"/>
              </a:rPr>
              <a:t> </a:t>
            </a:r>
            <a:r>
              <a:rPr lang="ko-KR" sz="3600" b="false" i="false" u="none" strike="noStrike">
                <a:solidFill>
                  <a:srgbClr val="242629"/>
                </a:solidFill>
                <a:ea typeface="ELAND NiceOTF Medium"/>
              </a:rPr>
              <a:t>분담</a:t>
            </a:r>
          </a:p>
        </p:txBody>
      </p:sp>
      <p:sp>
        <p:nvSpPr>
          <p:cNvPr id="16" name="TextBox 16"/>
          <p:cNvSpPr txBox="true"/>
          <p:nvPr/>
        </p:nvSpPr>
        <p:spPr>
          <a:xfrm rot="0">
            <a:off x="1320800" y="2019300"/>
            <a:ext cx="36957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4500" b="false" i="false" u="none" strike="noStrike">
                <a:solidFill>
                  <a:srgbClr val="C2C2C2"/>
                </a:solidFill>
                <a:latin typeface="ELAND NiceOTF Medium"/>
              </a:rPr>
              <a:t>INDEX</a:t>
            </a:r>
          </a:p>
        </p:txBody>
      </p:sp>
      <p:sp>
        <p:nvSpPr>
          <p:cNvPr id="17" name="TextBox 17"/>
          <p:cNvSpPr txBox="true"/>
          <p:nvPr/>
        </p:nvSpPr>
        <p:spPr>
          <a:xfrm rot="0">
            <a:off x="1320800" y="2730500"/>
            <a:ext cx="38100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9000" b="false" i="false" u="none" strike="noStrike">
                <a:solidFill>
                  <a:srgbClr val="000000"/>
                </a:solidFill>
                <a:ea typeface="ELAND NiceOTF Medium"/>
              </a:rPr>
              <a:t>목차</a:t>
            </a:r>
          </a:p>
        </p:txBody>
      </p:sp>
      <p:sp>
        <p:nvSpPr>
          <p:cNvPr id="18" name="TextBox 18"/>
          <p:cNvSpPr txBox="true"/>
          <p:nvPr/>
        </p:nvSpPr>
        <p:spPr>
          <a:xfrm rot="0">
            <a:off x="9486900" y="7658100"/>
            <a:ext cx="6667500" cy="647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3600" b="false" i="false" u="none" strike="noStrike">
                <a:solidFill>
                  <a:srgbClr val="242629"/>
                </a:solidFill>
                <a:latin typeface="ELAND NiceOTF Medium"/>
              </a:rPr>
              <a:t>06.Usecase &amp;ERD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57200" y="469900"/>
            <a:ext cx="17360900" cy="9423400"/>
          </a:xfrm>
          <a:prstGeom prst="rect">
            <a:avLst/>
          </a:prstGeom>
          <a:effectLst>
            <a:outerShdw dir="4020000" dist="362644" blurRad="1106733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39800" y="774700"/>
            <a:ext cx="228600" cy="22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08100" y="774700"/>
            <a:ext cx="228600" cy="22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63700" y="774700"/>
            <a:ext cx="2286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817600" y="5346700"/>
            <a:ext cx="2286000" cy="1854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055600" y="4648200"/>
            <a:ext cx="228600" cy="228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055600" y="6083300"/>
            <a:ext cx="228600" cy="228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541500" y="4648200"/>
            <a:ext cx="228600" cy="2286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6845300" y="698500"/>
            <a:ext cx="4597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Spring </a:t>
            </a:r>
            <a:r>
              <a:rPr lang="ko-KR" sz="2000" b="false" i="false" u="none" strike="noStrike">
                <a:solidFill>
                  <a:srgbClr val="FFFFFF"/>
                </a:solidFill>
                <a:ea typeface="Pretendard Light"/>
              </a:rPr>
              <a:t>백엔드</a:t>
            </a: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Pretendard Light"/>
              </a:rPr>
              <a:t>개발</a:t>
            </a: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 &amp; AWS </a:t>
            </a:r>
            <a:r>
              <a:rPr lang="ko-KR" sz="2000" b="false" i="false" u="none" strike="noStrike">
                <a:solidFill>
                  <a:srgbClr val="FFFFFF"/>
                </a:solidFill>
                <a:ea typeface="Pretendard Light"/>
              </a:rPr>
              <a:t>배포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394200" y="4013200"/>
            <a:ext cx="6477000" cy="1828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362200" y="3695700"/>
            <a:ext cx="2527300" cy="2501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2336800" y="4419600"/>
            <a:ext cx="25781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600" b="false" i="false" u="none" strike="noStrike" spc="100">
                <a:solidFill>
                  <a:srgbClr val="000000"/>
                </a:solidFill>
                <a:ea typeface="ELAND NiceOTF Medium"/>
              </a:rPr>
              <a:t>공통적인</a:t>
            </a:r>
          </a:p>
          <a:p>
            <a:pPr algn="ctr" lvl="0">
              <a:lnSpc>
                <a:spcPct val="99600"/>
              </a:lnSpc>
            </a:pPr>
            <a:r>
              <a:rPr lang="ko-KR" sz="3600" b="false" i="false" u="none" strike="noStrike" spc="100">
                <a:solidFill>
                  <a:srgbClr val="000000"/>
                </a:solidFill>
                <a:ea typeface="ELAND NiceOTF Medium"/>
              </a:rPr>
              <a:t>어려움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32400" y="4445000"/>
            <a:ext cx="39243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070"/>
              </a:lnSpc>
            </a:pPr>
            <a:r>
              <a:rPr lang="en-US" sz="2000" b="false" i="false" u="none" strike="noStrike" spc="-100">
                <a:solidFill>
                  <a:srgbClr val="595959"/>
                </a:solidFill>
                <a:latin typeface="ELAND NiceOTF Medium"/>
              </a:rPr>
              <a:t>“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ELAND NiceOTF Medium"/>
              </a:rPr>
              <a:t>병원은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ELAND NiceOTF Medium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ELAND NiceOTF Medium"/>
              </a:rPr>
              <a:t>가까울까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ELAND NiceOTF Medium"/>
              </a:rPr>
              <a:t>?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ELAND NiceOTF Medium"/>
              </a:rPr>
              <a:t>교통은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ELAND NiceOTF Medium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ELAND NiceOTF Medium"/>
              </a:rPr>
              <a:t>편리할까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ELAND NiceOTF Medium"/>
              </a:rPr>
              <a:t>?”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041900" y="4559300"/>
            <a:ext cx="88900" cy="889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5232400" y="5029200"/>
            <a:ext cx="55499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070"/>
              </a:lnSpc>
            </a:pPr>
            <a:r>
              <a:rPr lang="en-US" sz="2000" b="false" i="false" u="none" strike="noStrike" spc="-100">
                <a:solidFill>
                  <a:srgbClr val="595959"/>
                </a:solidFill>
                <a:latin typeface="ELAND NiceOTF Medium"/>
              </a:rPr>
              <a:t>“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ELAND NiceOTF Medium"/>
              </a:rPr>
              <a:t>마트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ELAND NiceOTF Medium"/>
              </a:rPr>
              <a:t>,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ELAND NiceOTF Medium"/>
              </a:rPr>
              <a:t>노래방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ELAND NiceOTF Medium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ELAND NiceOTF Medium"/>
              </a:rPr>
              <a:t>같은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ELAND NiceOTF Medium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ELAND NiceOTF Medium"/>
              </a:rPr>
              <a:t>생활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ELAND NiceOTF Medium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ELAND NiceOTF Medium"/>
              </a:rPr>
              <a:t>편의시설은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ELAND NiceOTF Medium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ELAND NiceOTF Medium"/>
              </a:rPr>
              <a:t>근처에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ELAND NiceOTF Medium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ELAND NiceOTF Medium"/>
              </a:rPr>
              <a:t>있을까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ELAND NiceOTF Medium"/>
              </a:rPr>
              <a:t>?”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041900" y="5156200"/>
            <a:ext cx="88900" cy="88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394200" y="6934200"/>
            <a:ext cx="6477000" cy="16129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362200" y="6477000"/>
            <a:ext cx="2527300" cy="25019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5232400" y="7581900"/>
            <a:ext cx="50165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070"/>
              </a:lnSpc>
            </a:pPr>
            <a:r>
              <a:rPr lang="ko-KR" sz="2000" b="false" i="false" u="none" strike="noStrike" spc="-100">
                <a:solidFill>
                  <a:srgbClr val="595959"/>
                </a:solidFill>
                <a:ea typeface="ELAND NiceOTF Medium"/>
              </a:rPr>
              <a:t>사람마다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ELAND NiceOTF Medium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ELAND NiceOTF Medium"/>
              </a:rPr>
              <a:t>중요하게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ELAND NiceOTF Medium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ELAND NiceOTF Medium"/>
              </a:rPr>
              <a:t>생각하는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ELAND NiceOTF Medium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ELAND NiceOTF Medium"/>
              </a:rPr>
              <a:t>요소가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ELAND NiceOTF Medium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ELAND NiceOTF Medium"/>
              </a:rPr>
              <a:t>각기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ELAND NiceOTF Medium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ELAND NiceOTF Medium"/>
              </a:rPr>
              <a:t>다름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041900" y="7721600"/>
            <a:ext cx="88900" cy="889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6286500" y="7975600"/>
            <a:ext cx="48387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070"/>
              </a:lnSpc>
            </a:pPr>
            <a:r>
              <a:rPr lang="ko-KR" sz="2000" b="false" i="false" u="none" strike="noStrike" spc="-100">
                <a:solidFill>
                  <a:srgbClr val="595959"/>
                </a:solidFill>
                <a:ea typeface="ELAND NiceOTF Medium"/>
              </a:rPr>
              <a:t>교통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ELAND NiceOTF Medium"/>
              </a:rPr>
              <a:t> vs 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ELAND NiceOTF Medium"/>
              </a:rPr>
              <a:t>의료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ELAND NiceOTF Medium"/>
              </a:rPr>
              <a:t> vs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ELAND NiceOTF Medium"/>
              </a:rPr>
              <a:t>편의시설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ELAND NiceOTF Medium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ELAND NiceOTF Medium"/>
              </a:rPr>
              <a:t>등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232400" y="7200900"/>
            <a:ext cx="46863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070"/>
              </a:lnSpc>
            </a:pPr>
            <a:r>
              <a:rPr lang="ko-KR" sz="2000" b="false" i="false" u="none" strike="noStrike" spc="-100">
                <a:solidFill>
                  <a:srgbClr val="595959"/>
                </a:solidFill>
                <a:ea typeface="ELAND NiceOTF Medium"/>
              </a:rPr>
              <a:t>정보를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ELAND NiceOTF Medium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ELAND NiceOTF Medium"/>
              </a:rPr>
              <a:t>일일이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ELAND NiceOTF Medium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ELAND NiceOTF Medium"/>
              </a:rPr>
              <a:t>따로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ELAND NiceOTF Medium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ELAND NiceOTF Medium"/>
              </a:rPr>
              <a:t>검색해야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ELAND NiceOTF Medium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ELAND NiceOTF Medium"/>
              </a:rPr>
              <a:t>하는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ELAND NiceOTF Medium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ELAND NiceOTF Medium"/>
              </a:rPr>
              <a:t>번거로움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041900" y="7340600"/>
            <a:ext cx="88900" cy="88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782300" y="5791200"/>
            <a:ext cx="1638300" cy="10795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2336800" y="7150100"/>
            <a:ext cx="25781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3600" b="false" i="false" u="none" strike="noStrike" spc="100">
                <a:solidFill>
                  <a:srgbClr val="EEEEEE"/>
                </a:solidFill>
                <a:ea typeface="ELAND NiceOTF Medium"/>
              </a:rPr>
              <a:t>불편한</a:t>
            </a:r>
          </a:p>
          <a:p>
            <a:pPr algn="ctr" lvl="0">
              <a:lnSpc>
                <a:spcPct val="99600"/>
              </a:lnSpc>
            </a:pPr>
            <a:r>
              <a:rPr lang="ko-KR" sz="3600" b="false" i="false" u="none" strike="noStrike" spc="100">
                <a:solidFill>
                  <a:srgbClr val="EEEEEE"/>
                </a:solidFill>
                <a:ea typeface="ELAND NiceOTF Medium"/>
              </a:rPr>
              <a:t>현실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921000" y="2895600"/>
            <a:ext cx="71247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3000" b="false" i="false" u="none" strike="noStrike">
                <a:solidFill>
                  <a:srgbClr val="58CCFF"/>
                </a:solidFill>
                <a:latin typeface="ELAND NiceOTF Medium"/>
              </a:rPr>
              <a:t>“</a:t>
            </a:r>
            <a:r>
              <a:rPr lang="ko-KR" sz="3000" b="false" i="false" u="none" strike="noStrike">
                <a:solidFill>
                  <a:srgbClr val="58CCFF"/>
                </a:solidFill>
                <a:ea typeface="ELAND NiceOTF Medium"/>
              </a:rPr>
              <a:t>내가</a:t>
            </a:r>
            <a:r>
              <a:rPr lang="en-US" sz="3000" b="false" i="false" u="none" strike="noStrike">
                <a:solidFill>
                  <a:srgbClr val="58CCFF"/>
                </a:solidFill>
                <a:latin typeface="ELAND NiceOTF Medium"/>
              </a:rPr>
              <a:t> </a:t>
            </a:r>
            <a:r>
              <a:rPr lang="ko-KR" sz="3000" b="false" i="false" u="none" strike="noStrike">
                <a:solidFill>
                  <a:srgbClr val="58CCFF"/>
                </a:solidFill>
                <a:ea typeface="ELAND NiceOTF Medium"/>
              </a:rPr>
              <a:t>이사</a:t>
            </a:r>
            <a:r>
              <a:rPr lang="en-US" sz="3000" b="false" i="false" u="none" strike="noStrike">
                <a:solidFill>
                  <a:srgbClr val="58CCFF"/>
                </a:solidFill>
                <a:latin typeface="ELAND NiceOTF Medium"/>
              </a:rPr>
              <a:t> </a:t>
            </a:r>
            <a:r>
              <a:rPr lang="ko-KR" sz="3000" b="false" i="false" u="none" strike="noStrike">
                <a:solidFill>
                  <a:srgbClr val="58CCFF"/>
                </a:solidFill>
                <a:ea typeface="ELAND NiceOTF Medium"/>
              </a:rPr>
              <a:t>갈</a:t>
            </a:r>
            <a:r>
              <a:rPr lang="en-US" sz="3000" b="false" i="false" u="none" strike="noStrike">
                <a:solidFill>
                  <a:srgbClr val="58CCFF"/>
                </a:solidFill>
                <a:latin typeface="ELAND NiceOTF Medium"/>
              </a:rPr>
              <a:t> </a:t>
            </a:r>
            <a:r>
              <a:rPr lang="ko-KR" sz="3000" b="false" i="false" u="none" strike="noStrike">
                <a:solidFill>
                  <a:srgbClr val="58CCFF"/>
                </a:solidFill>
                <a:ea typeface="ELAND NiceOTF Medium"/>
              </a:rPr>
              <a:t>동네는</a:t>
            </a:r>
            <a:r>
              <a:rPr lang="en-US" sz="3000" b="false" i="false" u="none" strike="noStrike">
                <a:solidFill>
                  <a:srgbClr val="58CCFF"/>
                </a:solidFill>
                <a:latin typeface="ELAND NiceOTF Medium"/>
              </a:rPr>
              <a:t> </a:t>
            </a:r>
            <a:r>
              <a:rPr lang="ko-KR" sz="3000" b="false" i="false" u="none" strike="noStrike">
                <a:solidFill>
                  <a:srgbClr val="58CCFF"/>
                </a:solidFill>
                <a:ea typeface="ELAND NiceOTF Medium"/>
              </a:rPr>
              <a:t>살기</a:t>
            </a:r>
            <a:r>
              <a:rPr lang="en-US" sz="3000" b="false" i="false" u="none" strike="noStrike">
                <a:solidFill>
                  <a:srgbClr val="58CCFF"/>
                </a:solidFill>
                <a:latin typeface="ELAND NiceOTF Medium"/>
              </a:rPr>
              <a:t> </a:t>
            </a:r>
            <a:r>
              <a:rPr lang="ko-KR" sz="3000" b="false" i="false" u="none" strike="noStrike">
                <a:solidFill>
                  <a:srgbClr val="58CCFF"/>
                </a:solidFill>
                <a:ea typeface="ELAND NiceOTF Medium"/>
              </a:rPr>
              <a:t>좋은</a:t>
            </a:r>
            <a:r>
              <a:rPr lang="en-US" sz="3000" b="false" i="false" u="none" strike="noStrike">
                <a:solidFill>
                  <a:srgbClr val="58CCFF"/>
                </a:solidFill>
                <a:latin typeface="ELAND NiceOTF Medium"/>
              </a:rPr>
              <a:t> </a:t>
            </a:r>
            <a:r>
              <a:rPr lang="ko-KR" sz="3000" b="false" i="false" u="none" strike="noStrike">
                <a:solidFill>
                  <a:srgbClr val="58CCFF"/>
                </a:solidFill>
                <a:ea typeface="ELAND NiceOTF Medium"/>
              </a:rPr>
              <a:t>곳일까</a:t>
            </a:r>
            <a:r>
              <a:rPr lang="en-US" sz="3000" b="false" i="false" u="none" strike="noStrike">
                <a:solidFill>
                  <a:srgbClr val="58CCFF"/>
                </a:solidFill>
                <a:latin typeface="ELAND NiceOTF Medium"/>
              </a:rPr>
              <a:t>?”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84300" y="1638300"/>
            <a:ext cx="9512300" cy="1193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6700" b="false" i="false" u="none" strike="noStrike">
                <a:solidFill>
                  <a:srgbClr val="000000"/>
                </a:solidFill>
                <a:latin typeface="ELAND NiceOTF Medium"/>
              </a:rPr>
              <a:t>01 </a:t>
            </a:r>
            <a:r>
              <a:rPr lang="ko-KR" sz="6700" b="false" i="false" u="none" strike="noStrike">
                <a:solidFill>
                  <a:srgbClr val="000000"/>
                </a:solidFill>
                <a:ea typeface="ELAND NiceOTF Medium"/>
              </a:rPr>
              <a:t>주제</a:t>
            </a:r>
            <a:r>
              <a:rPr lang="en-US" sz="6700" b="false" i="false" u="none" strike="noStrike">
                <a:solidFill>
                  <a:srgbClr val="000000"/>
                </a:solidFill>
                <a:latin typeface="ELAND NiceOTF Medium"/>
              </a:rPr>
              <a:t> </a:t>
            </a:r>
            <a:r>
              <a:rPr lang="ko-KR" sz="6700" b="false" i="false" u="none" strike="noStrike">
                <a:solidFill>
                  <a:srgbClr val="000000"/>
                </a:solidFill>
                <a:ea typeface="ELAND NiceOTF Medium"/>
              </a:rPr>
              <a:t>및</a:t>
            </a:r>
            <a:r>
              <a:rPr lang="en-US" sz="6700" b="false" i="false" u="none" strike="noStrike">
                <a:solidFill>
                  <a:srgbClr val="000000"/>
                </a:solidFill>
                <a:latin typeface="ELAND NiceOTF Medium"/>
              </a:rPr>
              <a:t> </a:t>
            </a:r>
            <a:r>
              <a:rPr lang="ko-KR" sz="6700" b="false" i="false" u="none" strike="noStrike">
                <a:solidFill>
                  <a:srgbClr val="000000"/>
                </a:solidFill>
                <a:ea typeface="ELAND NiceOTF Medium"/>
              </a:rPr>
              <a:t>개발배경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65200" y="5994400"/>
            <a:ext cx="2590800" cy="762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4300" b="false" i="false" u="none" strike="noStrike" spc="200">
                <a:solidFill>
                  <a:srgbClr val="000000"/>
                </a:solidFill>
                <a:ea typeface="ELAND NiceOTF Medium"/>
              </a:rPr>
              <a:t>라이프핏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08000" y="469900"/>
            <a:ext cx="17284700" cy="9423400"/>
          </a:xfrm>
          <a:prstGeom prst="rect">
            <a:avLst/>
          </a:prstGeom>
          <a:effectLst>
            <a:outerShdw dir="4020000" dist="362644" blurRad="1106733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39800" y="774700"/>
            <a:ext cx="228600" cy="22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08100" y="774700"/>
            <a:ext cx="228600" cy="22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63700" y="774700"/>
            <a:ext cx="2286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106900" y="736600"/>
            <a:ext cx="228600" cy="2794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930400" y="1955800"/>
            <a:ext cx="14579600" cy="1054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5900" b="false" i="false" u="none" strike="noStrike">
                <a:solidFill>
                  <a:srgbClr val="000000"/>
                </a:solidFill>
                <a:latin typeface="ELAND NiceOTF Medium"/>
              </a:rPr>
              <a:t>02 </a:t>
            </a:r>
            <a:r>
              <a:rPr lang="ko-KR" sz="5900" b="false" i="false" u="none" strike="noStrike">
                <a:solidFill>
                  <a:srgbClr val="000000"/>
                </a:solidFill>
                <a:ea typeface="ELAND NiceOTF Medium"/>
              </a:rPr>
              <a:t>개발</a:t>
            </a:r>
            <a:r>
              <a:rPr lang="en-US" sz="5900" b="false" i="false" u="none" strike="noStrike">
                <a:solidFill>
                  <a:srgbClr val="000000"/>
                </a:solidFill>
                <a:latin typeface="ELAND NiceOTF Medium"/>
              </a:rPr>
              <a:t> </a:t>
            </a:r>
            <a:r>
              <a:rPr lang="ko-KR" sz="5900" b="false" i="false" u="none" strike="noStrike">
                <a:solidFill>
                  <a:srgbClr val="000000"/>
                </a:solidFill>
                <a:ea typeface="ELAND NiceOTF Medium"/>
              </a:rPr>
              <a:t>목적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5400000">
            <a:off x="977900" y="7353300"/>
            <a:ext cx="1917700" cy="889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2298700" y="6807200"/>
            <a:ext cx="2971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en-US" sz="1500" b="false" i="false" u="none" strike="noStrike">
                <a:solidFill>
                  <a:srgbClr val="0E6D62"/>
                </a:solidFill>
                <a:latin typeface="ELAND NiceOTF Medium"/>
              </a:rPr>
              <a:t>→ </a:t>
            </a:r>
            <a:r>
              <a:rPr lang="ko-KR" sz="1500" b="false" i="false" u="none" strike="noStrike">
                <a:solidFill>
                  <a:srgbClr val="0E6D62"/>
                </a:solidFill>
                <a:ea typeface="ELAND NiceOTF Medium"/>
              </a:rPr>
              <a:t>사용자는</a:t>
            </a:r>
            <a:r>
              <a:rPr lang="en-US" sz="1500" b="false" i="false" u="none" strike="noStrike">
                <a:solidFill>
                  <a:srgbClr val="0E6D62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D62"/>
                </a:solidFill>
                <a:ea typeface="ELAND NiceOTF Medium"/>
              </a:rPr>
              <a:t>여러</a:t>
            </a:r>
            <a:r>
              <a:rPr lang="en-US" sz="1500" b="false" i="false" u="none" strike="noStrike">
                <a:solidFill>
                  <a:srgbClr val="0E6D62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D62"/>
                </a:solidFill>
                <a:ea typeface="ELAND NiceOTF Medium"/>
              </a:rPr>
              <a:t>사이트를</a:t>
            </a:r>
            <a:r>
              <a:rPr lang="en-US" sz="1500" b="false" i="false" u="none" strike="noStrike">
                <a:solidFill>
                  <a:srgbClr val="0E6D62"/>
                </a:solidFill>
                <a:latin typeface="ELAND NiceOTF Medium"/>
              </a:rPr>
              <a:t> </a:t>
            </a:r>
          </a:p>
          <a:p>
            <a:pPr algn="l" lvl="0">
              <a:lnSpc>
                <a:spcPct val="128650"/>
              </a:lnSpc>
            </a:pPr>
            <a:r>
              <a:rPr lang="ko-KR" sz="1500" b="false" i="false" u="none" strike="noStrike">
                <a:solidFill>
                  <a:srgbClr val="0E6D62"/>
                </a:solidFill>
                <a:ea typeface="ELAND NiceOTF Medium"/>
              </a:rPr>
              <a:t>돌아다녀야</a:t>
            </a:r>
            <a:r>
              <a:rPr lang="en-US" sz="1500" b="false" i="false" u="none" strike="noStrike">
                <a:solidFill>
                  <a:srgbClr val="0E6D62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D62"/>
                </a:solidFill>
                <a:ea typeface="ELAND NiceOTF Medium"/>
              </a:rPr>
              <a:t>함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0">
            <a:alphaModFix amt="35000"/>
          </a:blip>
          <a:stretch>
            <a:fillRect/>
          </a:stretch>
        </p:blipFill>
        <p:spPr>
          <a:xfrm rot="5400000">
            <a:off x="3568700" y="7061200"/>
            <a:ext cx="2501900" cy="88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>
            <a:alphaModFix amt="55000"/>
          </a:blip>
          <a:stretch>
            <a:fillRect/>
          </a:stretch>
        </p:blipFill>
        <p:spPr>
          <a:xfrm rot="5400000">
            <a:off x="6172200" y="6769100"/>
            <a:ext cx="3073400" cy="88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>
            <a:alphaModFix amt="70000"/>
          </a:blip>
          <a:stretch>
            <a:fillRect/>
          </a:stretch>
        </p:blipFill>
        <p:spPr>
          <a:xfrm rot="5400000">
            <a:off x="8775700" y="6477000"/>
            <a:ext cx="3644900" cy="88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>
            <a:alphaModFix amt="80000"/>
          </a:blip>
          <a:stretch>
            <a:fillRect/>
          </a:stretch>
        </p:blipFill>
        <p:spPr>
          <a:xfrm rot="5400000">
            <a:off x="11379200" y="6197600"/>
            <a:ext cx="4229100" cy="88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>
            <a:alphaModFix amt="20000"/>
          </a:blip>
          <a:stretch>
            <a:fillRect/>
          </a:stretch>
        </p:blipFill>
        <p:spPr>
          <a:xfrm rot="0">
            <a:off x="1917700" y="5867400"/>
            <a:ext cx="2882900" cy="571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>
            <a:alphaModFix amt="35000"/>
          </a:blip>
          <a:stretch>
            <a:fillRect/>
          </a:stretch>
        </p:blipFill>
        <p:spPr>
          <a:xfrm rot="0">
            <a:off x="4800600" y="5283200"/>
            <a:ext cx="2895600" cy="571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6">
            <a:alphaModFix amt="55000"/>
          </a:blip>
          <a:stretch>
            <a:fillRect/>
          </a:stretch>
        </p:blipFill>
        <p:spPr>
          <a:xfrm rot="0">
            <a:off x="7696200" y="4699000"/>
            <a:ext cx="2895600" cy="571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>
            <a:alphaModFix amt="70000"/>
          </a:blip>
          <a:stretch>
            <a:fillRect/>
          </a:stretch>
        </p:blipFill>
        <p:spPr>
          <a:xfrm rot="0">
            <a:off x="10579100" y="4127500"/>
            <a:ext cx="2895600" cy="571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8">
            <a:alphaModFix amt="80000"/>
          </a:blip>
          <a:stretch>
            <a:fillRect/>
          </a:stretch>
        </p:blipFill>
        <p:spPr>
          <a:xfrm rot="0">
            <a:off x="13474700" y="3543300"/>
            <a:ext cx="2908300" cy="5715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3538200" y="3708400"/>
            <a:ext cx="28829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ELAND NiceOTF Medium"/>
              </a:rPr>
              <a:t>스마트</a:t>
            </a:r>
            <a:r>
              <a:rPr lang="en-US" sz="1500" b="false" i="false" u="none" strike="noStrike">
                <a:solidFill>
                  <a:srgbClr val="FFFFFF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ELAND NiceOTF Medium"/>
              </a:rPr>
              <a:t>시티</a:t>
            </a:r>
            <a:r>
              <a:rPr lang="en-US" sz="1500" b="false" i="false" u="none" strike="noStrike">
                <a:solidFill>
                  <a:srgbClr val="FFFFFF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ELAND NiceOTF Medium"/>
              </a:rPr>
              <a:t>및</a:t>
            </a:r>
            <a:r>
              <a:rPr lang="en-US" sz="1500" b="false" i="false" u="none" strike="noStrike">
                <a:solidFill>
                  <a:srgbClr val="FFFFFF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ELAND NiceOTF Medium"/>
              </a:rPr>
              <a:t>맞춤형</a:t>
            </a:r>
            <a:r>
              <a:rPr lang="en-US" sz="1500" b="false" i="false" u="none" strike="noStrike">
                <a:solidFill>
                  <a:srgbClr val="FFFFFF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ELAND NiceOTF Medium"/>
              </a:rPr>
              <a:t>서비스</a:t>
            </a:r>
            <a:r>
              <a:rPr lang="en-US" sz="1500" b="false" i="false" u="none" strike="noStrike">
                <a:solidFill>
                  <a:srgbClr val="FFFFFF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ELAND NiceOTF Medium"/>
              </a:rPr>
              <a:t>성장</a:t>
            </a:r>
          </a:p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FFFFFF"/>
                </a:solidFill>
                <a:latin typeface="ELAND NiceOTF Medium"/>
              </a:rPr>
              <a:t/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29900" y="4267200"/>
            <a:ext cx="29083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1500" b="false" i="false" u="none" strike="noStrike">
                <a:solidFill>
                  <a:srgbClr val="FFFFFF"/>
                </a:solidFill>
                <a:ea typeface="ELAND NiceOTF Medium"/>
              </a:rPr>
              <a:t>지역</a:t>
            </a:r>
            <a:r>
              <a:rPr lang="en-US" sz="1500" b="false" i="false" u="none" strike="noStrike">
                <a:solidFill>
                  <a:srgbClr val="FFFFFF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ELAND NiceOTF Medium"/>
              </a:rPr>
              <a:t>격차</a:t>
            </a:r>
            <a:r>
              <a:rPr lang="en-US" sz="1500" b="false" i="false" u="none" strike="noStrike">
                <a:solidFill>
                  <a:srgbClr val="FFFFFF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ELAND NiceOTF Medium"/>
              </a:rPr>
              <a:t>및</a:t>
            </a:r>
            <a:r>
              <a:rPr lang="en-US" sz="1500" b="false" i="false" u="none" strike="noStrike">
                <a:solidFill>
                  <a:srgbClr val="FFFFFF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ELAND NiceOTF Medium"/>
              </a:rPr>
              <a:t>정보</a:t>
            </a:r>
            <a:r>
              <a:rPr lang="en-US" sz="1500" b="false" i="false" u="none" strike="noStrike">
                <a:solidFill>
                  <a:srgbClr val="FFFFFF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ELAND NiceOTF Medium"/>
              </a:rPr>
              <a:t>불균형</a:t>
            </a:r>
            <a:r>
              <a:rPr lang="en-US" sz="1500" b="false" i="false" u="none" strike="noStrike">
                <a:solidFill>
                  <a:srgbClr val="FFFFFF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ELAND NiceOTF Medium"/>
              </a:rPr>
              <a:t>해소</a:t>
            </a:r>
            <a:r>
              <a:rPr lang="en-US" sz="1500" b="false" i="false" u="none" strike="noStrike">
                <a:solidFill>
                  <a:srgbClr val="FFFFFF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FFFFFF"/>
                </a:solidFill>
                <a:ea typeface="ELAND NiceOTF Medium"/>
              </a:rPr>
              <a:t>필요</a:t>
            </a:r>
          </a:p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FFFFFF"/>
                </a:solidFill>
                <a:latin typeface="ELAND NiceOTF Medium"/>
              </a:rPr>
              <a:t/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93900" y="5994400"/>
            <a:ext cx="28702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100" b="false" i="false" u="none" strike="noStrike">
                <a:solidFill>
                  <a:srgbClr val="000000"/>
                </a:solidFill>
                <a:ea typeface="ELAND NiceOTF Medium"/>
              </a:rPr>
              <a:t>지역</a:t>
            </a:r>
            <a:r>
              <a:rPr lang="en-US" sz="2100" b="false" i="false" u="none" strike="noStrike">
                <a:solidFill>
                  <a:srgbClr val="000000"/>
                </a:solidFill>
                <a:latin typeface="ELAND NiceOTF Medium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ELAND NiceOTF Medium"/>
              </a:rPr>
              <a:t>정보의</a:t>
            </a:r>
            <a:r>
              <a:rPr lang="en-US" sz="2100" b="false" i="false" u="none" strike="noStrike">
                <a:solidFill>
                  <a:srgbClr val="000000"/>
                </a:solidFill>
                <a:latin typeface="ELAND NiceOTF Medium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ELAND NiceOTF Medium"/>
              </a:rPr>
              <a:t>파편화</a:t>
            </a:r>
            <a:r>
              <a:rPr lang="en-US" sz="2100" b="false" i="false" u="none" strike="noStrike">
                <a:solidFill>
                  <a:srgbClr val="000000"/>
                </a:solidFill>
                <a:latin typeface="ELAND NiceOTF Medium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ELAND NiceOTF Medium"/>
              </a:rPr>
              <a:t>문제</a:t>
            </a:r>
          </a:p>
          <a:p>
            <a:pPr algn="l" lvl="0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000000"/>
                </a:solidFill>
                <a:latin typeface="ELAND NiceOTF Medium"/>
              </a:rPr>
              <a:t/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876800" y="5422900"/>
            <a:ext cx="30226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1700" b="false" i="false" u="none" strike="noStrike">
                <a:solidFill>
                  <a:srgbClr val="000000"/>
                </a:solidFill>
                <a:ea typeface="ELAND NiceOTF Medium"/>
              </a:rPr>
              <a:t>신뢰할</a:t>
            </a:r>
            <a:r>
              <a:rPr lang="en-US" sz="1700" b="false" i="false" u="none" strike="noStrike">
                <a:solidFill>
                  <a:srgbClr val="000000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ELAND NiceOTF Medium"/>
              </a:rPr>
              <a:t>수</a:t>
            </a:r>
            <a:r>
              <a:rPr lang="en-US" sz="1700" b="false" i="false" u="none" strike="noStrike">
                <a:solidFill>
                  <a:srgbClr val="000000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ELAND NiceOTF Medium"/>
              </a:rPr>
              <a:t>있는</a:t>
            </a:r>
            <a:r>
              <a:rPr lang="en-US" sz="1700" b="false" i="false" u="none" strike="noStrike">
                <a:solidFill>
                  <a:srgbClr val="000000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ELAND NiceOTF Medium"/>
              </a:rPr>
              <a:t>동네</a:t>
            </a:r>
            <a:r>
              <a:rPr lang="en-US" sz="1700" b="false" i="false" u="none" strike="noStrike">
                <a:solidFill>
                  <a:srgbClr val="000000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ELAND NiceOTF Medium"/>
              </a:rPr>
              <a:t>정보</a:t>
            </a:r>
            <a:r>
              <a:rPr lang="en-US" sz="1700" b="false" i="false" u="none" strike="noStrike">
                <a:solidFill>
                  <a:srgbClr val="000000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ELAND NiceOTF Medium"/>
              </a:rPr>
              <a:t>부족</a:t>
            </a:r>
          </a:p>
          <a:p>
            <a:pPr algn="l" lvl="0">
              <a:lnSpc>
                <a:spcPct val="116199"/>
              </a:lnSpc>
            </a:pPr>
            <a:r>
              <a:rPr lang="en-US" sz="1700" b="false" i="false" u="none" strike="noStrike">
                <a:solidFill>
                  <a:srgbClr val="000000"/>
                </a:solidFill>
                <a:latin typeface="ELAND NiceOTF Medium"/>
              </a:rPr>
              <a:t/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99400" y="4851400"/>
            <a:ext cx="30226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100" b="false" i="false" u="none" strike="noStrike">
                <a:solidFill>
                  <a:srgbClr val="000000"/>
                </a:solidFill>
                <a:ea typeface="ELAND NiceOTF Medium"/>
              </a:rPr>
              <a:t>공공데이터</a:t>
            </a:r>
            <a:r>
              <a:rPr lang="en-US" sz="2100" b="false" i="false" u="none" strike="noStrike">
                <a:solidFill>
                  <a:srgbClr val="000000"/>
                </a:solidFill>
                <a:latin typeface="ELAND NiceOTF Medium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ELAND NiceOTF Medium"/>
              </a:rPr>
              <a:t>활용</a:t>
            </a:r>
            <a:r>
              <a:rPr lang="en-US" sz="2100" b="false" i="false" u="none" strike="noStrike">
                <a:solidFill>
                  <a:srgbClr val="000000"/>
                </a:solidFill>
                <a:latin typeface="ELAND NiceOTF Medium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ELAND NiceOTF Medium"/>
              </a:rPr>
              <a:t>미비</a:t>
            </a:r>
          </a:p>
          <a:p>
            <a:pPr algn="l" lvl="0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000000"/>
                </a:solidFill>
                <a:latin typeface="ELAND NiceOTF Medium"/>
              </a:rPr>
              <a:t/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311400" y="7543800"/>
            <a:ext cx="2590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en-US" sz="1500" b="false" i="false" u="none" strike="noStrike">
                <a:solidFill>
                  <a:srgbClr val="0E6D62"/>
                </a:solidFill>
                <a:latin typeface="ELAND NiceOTF Medium"/>
              </a:rPr>
              <a:t>→ </a:t>
            </a:r>
            <a:r>
              <a:rPr lang="ko-KR" sz="1500" b="false" i="false" u="none" strike="noStrike">
                <a:solidFill>
                  <a:srgbClr val="0E6D62"/>
                </a:solidFill>
                <a:ea typeface="ELAND NiceOTF Medium"/>
              </a:rPr>
              <a:t>정보</a:t>
            </a:r>
            <a:r>
              <a:rPr lang="en-US" sz="1500" b="false" i="false" u="none" strike="noStrike">
                <a:solidFill>
                  <a:srgbClr val="0E6D62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D62"/>
                </a:solidFill>
                <a:ea typeface="ELAND NiceOTF Medium"/>
              </a:rPr>
              <a:t>접근성</a:t>
            </a:r>
            <a:r>
              <a:rPr lang="en-US" sz="1500" b="false" i="false" u="none" strike="noStrike">
                <a:solidFill>
                  <a:srgbClr val="0E6D62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D62"/>
                </a:solidFill>
                <a:ea typeface="ELAND NiceOTF Medium"/>
              </a:rPr>
              <a:t>낮음</a:t>
            </a:r>
            <a:r>
              <a:rPr lang="en-US" sz="1500" b="false" i="false" u="none" strike="noStrike">
                <a:solidFill>
                  <a:srgbClr val="0E6D62"/>
                </a:solidFill>
                <a:latin typeface="ELAND NiceOTF Medium"/>
              </a:rPr>
              <a:t>,</a:t>
            </a:r>
          </a:p>
          <a:p>
            <a:pPr algn="l" lvl="0">
              <a:lnSpc>
                <a:spcPct val="128650"/>
              </a:lnSpc>
            </a:pPr>
            <a:r>
              <a:rPr lang="en-US" sz="1500" b="false" i="false" u="none" strike="noStrike">
                <a:solidFill>
                  <a:srgbClr val="0E6D62"/>
                </a:solidFill>
                <a:latin typeface="ELAND NiceOTF Medium"/>
              </a:rPr>
              <a:t> </a:t>
            </a:r>
            <a:r>
              <a:rPr lang="ko-KR" sz="1500" b="false" i="false" u="none" strike="noStrike">
                <a:solidFill>
                  <a:srgbClr val="0E6D62"/>
                </a:solidFill>
                <a:ea typeface="ELAND NiceOTF Medium"/>
              </a:rPr>
              <a:t>시간</a:t>
            </a:r>
            <a:r>
              <a:rPr lang="en-US" sz="1500" b="false" i="false" u="none" strike="noStrike">
                <a:solidFill>
                  <a:srgbClr val="0E6D62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D62"/>
                </a:solidFill>
                <a:ea typeface="ELAND NiceOTF Medium"/>
              </a:rPr>
              <a:t>소모</a:t>
            </a:r>
            <a:r>
              <a:rPr lang="en-US" sz="1500" b="false" i="false" u="none" strike="noStrike">
                <a:solidFill>
                  <a:srgbClr val="0E6D62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D62"/>
                </a:solidFill>
                <a:ea typeface="ELAND NiceOTF Medium"/>
              </a:rPr>
              <a:t>큼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181600" y="6400800"/>
            <a:ext cx="2971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“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실제로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살아보기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전에는</a:t>
            </a:r>
          </a:p>
          <a:p>
            <a:pPr algn="l" lvl="0">
              <a:lnSpc>
                <a:spcPct val="128650"/>
              </a:lnSpc>
            </a:pP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 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알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수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없다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”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는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불편함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존재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874000" y="5880100"/>
            <a:ext cx="29718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→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사용자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관점에서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직관적으로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 </a:t>
            </a:r>
          </a:p>
          <a:p>
            <a:pPr algn="l" lvl="0">
              <a:lnSpc>
                <a:spcPct val="128650"/>
              </a:lnSpc>
            </a:pP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통합해서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제공하는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플랫폼은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부족</a:t>
            </a:r>
          </a:p>
          <a:p>
            <a:pPr algn="l" lvl="0">
              <a:lnSpc>
                <a:spcPct val="128650"/>
              </a:lnSpc>
            </a:pP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/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874000" y="6642100"/>
            <a:ext cx="25908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→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공공데이터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활용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 </a:t>
            </a:r>
          </a:p>
          <a:p>
            <a:pPr algn="l" lvl="0">
              <a:lnSpc>
                <a:spcPct val="128650"/>
              </a:lnSpc>
            </a:pP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실감형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서비스로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확장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가능</a:t>
            </a:r>
          </a:p>
          <a:p>
            <a:pPr algn="l" lvl="0">
              <a:lnSpc>
                <a:spcPct val="128650"/>
              </a:lnSpc>
            </a:pP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/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07700" y="5232400"/>
            <a:ext cx="2971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데이터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기반으로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불균형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지역을</a:t>
            </a:r>
          </a:p>
          <a:p>
            <a:pPr algn="l" lvl="0">
              <a:lnSpc>
                <a:spcPct val="128650"/>
              </a:lnSpc>
            </a:pP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 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시각화해주는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서비스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필요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652500" y="4711700"/>
            <a:ext cx="29718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개인화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추천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,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지역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정책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알림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,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거주지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진단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등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맞춤형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기능의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수요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증가</a:t>
            </a:r>
          </a:p>
          <a:p>
            <a:pPr algn="l" lvl="0">
              <a:lnSpc>
                <a:spcPct val="128650"/>
              </a:lnSpc>
            </a:pP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/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845300" y="698500"/>
            <a:ext cx="4597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Spring </a:t>
            </a:r>
            <a:r>
              <a:rPr lang="ko-KR" sz="2000" b="false" i="false" u="none" strike="noStrike">
                <a:solidFill>
                  <a:srgbClr val="FFFFFF"/>
                </a:solidFill>
                <a:ea typeface="Pretendard Light"/>
              </a:rPr>
              <a:t>백엔드</a:t>
            </a: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Pretendard Light"/>
              </a:rPr>
              <a:t>개발</a:t>
            </a: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 &amp; AWS </a:t>
            </a:r>
            <a:r>
              <a:rPr lang="ko-KR" sz="2000" b="false" i="false" u="none" strike="noStrike">
                <a:solidFill>
                  <a:srgbClr val="FFFFFF"/>
                </a:solidFill>
                <a:ea typeface="Pretendard Light"/>
              </a:rPr>
              <a:t>배포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820400" y="6057900"/>
            <a:ext cx="26035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거주민들은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정책적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지원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필요성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인식하나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정보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접근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경로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부족</a:t>
            </a:r>
          </a:p>
          <a:p>
            <a:pPr algn="l" lvl="0">
              <a:lnSpc>
                <a:spcPct val="128650"/>
              </a:lnSpc>
            </a:pP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/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677900" y="5461000"/>
            <a:ext cx="29718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데이터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+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지도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+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사용자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중심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UI</a:t>
            </a:r>
          </a:p>
          <a:p>
            <a:pPr algn="l" lvl="0">
              <a:lnSpc>
                <a:spcPct val="128650"/>
              </a:lnSpc>
            </a:pP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가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핵심</a:t>
            </a: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> </a:t>
            </a:r>
            <a:r>
              <a:rPr lang="ko-KR" sz="1500" b="false" i="false" u="none" strike="noStrike">
                <a:solidFill>
                  <a:srgbClr val="0E6CA5"/>
                </a:solidFill>
                <a:ea typeface="ELAND NiceOTF Medium"/>
              </a:rPr>
              <a:t>경쟁력</a:t>
            </a:r>
          </a:p>
          <a:p>
            <a:pPr algn="l" lvl="0">
              <a:lnSpc>
                <a:spcPct val="128650"/>
              </a:lnSpc>
            </a:pPr>
            <a:r>
              <a:rPr lang="en-US" sz="1500" b="false" i="false" u="none" strike="noStrike">
                <a:solidFill>
                  <a:srgbClr val="0E6CA5"/>
                </a:solidFill>
                <a:latin typeface="ELAND NiceOTF Medium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08000" y="469900"/>
            <a:ext cx="17284700" cy="9423400"/>
          </a:xfrm>
          <a:prstGeom prst="rect">
            <a:avLst/>
          </a:prstGeom>
          <a:effectLst>
            <a:outerShdw dir="4020000" dist="362644" blurRad="1106733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39800" y="774700"/>
            <a:ext cx="228600" cy="22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08100" y="774700"/>
            <a:ext cx="228600" cy="22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63700" y="774700"/>
            <a:ext cx="2286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5400000">
            <a:off x="8750300" y="6946900"/>
            <a:ext cx="7874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>
            <a:alphaModFix amt="20000"/>
          </a:blip>
          <a:stretch>
            <a:fillRect/>
          </a:stretch>
        </p:blipFill>
        <p:spPr>
          <a:xfrm rot="60000">
            <a:off x="9144000" y="4737100"/>
            <a:ext cx="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80000"/>
          </a:blip>
          <a:stretch>
            <a:fillRect/>
          </a:stretch>
        </p:blipFill>
        <p:spPr>
          <a:xfrm rot="0">
            <a:off x="7112000" y="5524500"/>
            <a:ext cx="4051300" cy="1041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>
            <a:alphaModFix amt="20000"/>
          </a:blip>
          <a:stretch>
            <a:fillRect/>
          </a:stretch>
        </p:blipFill>
        <p:spPr>
          <a:xfrm rot="2160000">
            <a:off x="11049000" y="6832600"/>
            <a:ext cx="1079500" cy="25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>
            <a:alphaModFix amt="20000"/>
          </a:blip>
          <a:stretch>
            <a:fillRect/>
          </a:stretch>
        </p:blipFill>
        <p:spPr>
          <a:xfrm rot="-2160000">
            <a:off x="11036300" y="5232400"/>
            <a:ext cx="1092200" cy="2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>
            <a:alphaModFix amt="20000"/>
          </a:blip>
          <a:stretch>
            <a:fillRect/>
          </a:stretch>
        </p:blipFill>
        <p:spPr>
          <a:xfrm rot="2040000">
            <a:off x="6159500" y="5270500"/>
            <a:ext cx="1066800" cy="25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>
            <a:alphaModFix amt="20000"/>
          </a:blip>
          <a:stretch>
            <a:fillRect/>
          </a:stretch>
        </p:blipFill>
        <p:spPr>
          <a:xfrm rot="-2160000">
            <a:off x="6159500" y="6832600"/>
            <a:ext cx="1092200" cy="25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>
            <a:alphaModFix amt="20000"/>
          </a:blip>
          <a:stretch>
            <a:fillRect/>
          </a:stretch>
        </p:blipFill>
        <p:spPr>
          <a:xfrm rot="5400000">
            <a:off x="8737600" y="5143500"/>
            <a:ext cx="812800" cy="25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8229600" y="3848100"/>
            <a:ext cx="1841500" cy="889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128500" y="3848100"/>
            <a:ext cx="1562100" cy="1066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4991100" y="7150100"/>
            <a:ext cx="1244600" cy="1206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8737600" y="7353300"/>
            <a:ext cx="812800" cy="812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>
            <a:alphaModFix amt="20000"/>
          </a:blip>
          <a:stretch>
            <a:fillRect/>
          </a:stretch>
        </p:blipFill>
        <p:spPr>
          <a:xfrm rot="0">
            <a:off x="11176000" y="6032500"/>
            <a:ext cx="1016000" cy="25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2242800" y="5524500"/>
            <a:ext cx="1346200" cy="965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1">
            <a:alphaModFix amt="20000"/>
          </a:blip>
          <a:stretch>
            <a:fillRect/>
          </a:stretch>
        </p:blipFill>
        <p:spPr>
          <a:xfrm rot="0">
            <a:off x="6096000" y="6019800"/>
            <a:ext cx="1016000" cy="25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4699000" y="5473700"/>
            <a:ext cx="1384300" cy="1155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5105400" y="3810000"/>
            <a:ext cx="1028700" cy="11049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2128500" y="7175500"/>
            <a:ext cx="2082800" cy="9906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7099300" y="5715000"/>
            <a:ext cx="41021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4000" b="false" i="false" u="none" strike="noStrike">
                <a:solidFill>
                  <a:srgbClr val="FFFFFF"/>
                </a:solidFill>
                <a:ea typeface="ELAND NiceOTF Medium"/>
              </a:rPr>
              <a:t>라이프핏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30400" y="1955800"/>
            <a:ext cx="14579600" cy="1054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5900" b="false" i="false" u="none" strike="noStrike">
                <a:solidFill>
                  <a:srgbClr val="000000"/>
                </a:solidFill>
                <a:latin typeface="ELAND NiceOTF Medium"/>
              </a:rPr>
              <a:t>03 </a:t>
            </a:r>
            <a:r>
              <a:rPr lang="ko-KR" sz="5900" b="false" i="false" u="none" strike="noStrike">
                <a:solidFill>
                  <a:srgbClr val="000000"/>
                </a:solidFill>
                <a:ea typeface="ELAND NiceOTF Medium"/>
              </a:rPr>
              <a:t>개발</a:t>
            </a:r>
            <a:r>
              <a:rPr lang="en-US" sz="5900" b="false" i="false" u="none" strike="noStrike">
                <a:solidFill>
                  <a:srgbClr val="000000"/>
                </a:solidFill>
                <a:latin typeface="ELAND NiceOTF Medium"/>
              </a:rPr>
              <a:t> </a:t>
            </a:r>
            <a:r>
              <a:rPr lang="ko-KR" sz="5900" b="false" i="false" u="none" strike="noStrike">
                <a:solidFill>
                  <a:srgbClr val="000000"/>
                </a:solidFill>
                <a:ea typeface="ELAND NiceOTF Medium"/>
              </a:rPr>
              <a:t>환경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45300" y="698500"/>
            <a:ext cx="4597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Spring </a:t>
            </a:r>
            <a:r>
              <a:rPr lang="ko-KR" sz="2000" b="false" i="false" u="none" strike="noStrike">
                <a:solidFill>
                  <a:srgbClr val="FFFFFF"/>
                </a:solidFill>
                <a:ea typeface="Pretendard Light"/>
              </a:rPr>
              <a:t>백엔드</a:t>
            </a: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Pretendard Light"/>
              </a:rPr>
              <a:t>개발</a:t>
            </a: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 &amp; AWS </a:t>
            </a:r>
            <a:r>
              <a:rPr lang="ko-KR" sz="2000" b="false" i="false" u="none" strike="noStrike">
                <a:solidFill>
                  <a:srgbClr val="FFFFFF"/>
                </a:solidFill>
                <a:ea typeface="Pretendard Light"/>
              </a:rPr>
              <a:t>배포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58800" y="533400"/>
            <a:ext cx="17284700" cy="9423400"/>
          </a:xfrm>
          <a:prstGeom prst="rect">
            <a:avLst/>
          </a:prstGeom>
          <a:effectLst>
            <a:outerShdw dir="4020000" dist="362644" blurRad="1106733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39800" y="774700"/>
            <a:ext cx="228600" cy="22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08100" y="774700"/>
            <a:ext cx="228600" cy="22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63700" y="774700"/>
            <a:ext cx="2286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60000">
            <a:off x="9144000" y="4737100"/>
            <a:ext cx="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39800" y="2971800"/>
            <a:ext cx="4978400" cy="5765800"/>
          </a:xfrm>
          <a:prstGeom prst="rect">
            <a:avLst/>
          </a:prstGeom>
          <a:effectLst>
            <a:outerShdw dir="4020000" dist="191240" blurRad="307779">
              <a:srgbClr val="000000">
                <a:alpha val="30000"/>
              </a:srgbClr>
            </a:outerShdw>
          </a:effectLst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540500" y="2971800"/>
            <a:ext cx="5067300" cy="2438400"/>
          </a:xfrm>
          <a:prstGeom prst="rect">
            <a:avLst/>
          </a:prstGeom>
          <a:effectLst>
            <a:outerShdw dir="4020000" dist="93812" blurRad="111093">
              <a:srgbClr val="000000">
                <a:alpha val="20000"/>
              </a:srgbClr>
            </a:outerShdw>
          </a:effectLst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661400" y="5511800"/>
            <a:ext cx="774700" cy="774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217400" y="3022600"/>
            <a:ext cx="5130800" cy="5715000"/>
          </a:xfrm>
          <a:prstGeom prst="rect">
            <a:avLst/>
          </a:prstGeom>
          <a:effectLst>
            <a:outerShdw dir="4020000" dist="197375" blurRad="327842">
              <a:srgbClr val="000000">
                <a:alpha val="30000"/>
              </a:srgbClr>
            </a:outerShdw>
          </a:effectLst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477000" y="6286500"/>
            <a:ext cx="5168900" cy="2438400"/>
          </a:xfrm>
          <a:prstGeom prst="rect">
            <a:avLst/>
          </a:prstGeom>
          <a:effectLst>
            <a:outerShdw dir="4020000" dist="93812" blurRad="111093">
              <a:srgbClr val="000000">
                <a:alpha val="20000"/>
              </a:srgbClr>
            </a:outerShdw>
          </a:effectLst>
        </p:spPr>
      </p:pic>
      <p:sp>
        <p:nvSpPr>
          <p:cNvPr name="TextBox 15" id="15"/>
          <p:cNvSpPr txBox="true"/>
          <p:nvPr/>
        </p:nvSpPr>
        <p:spPr>
          <a:xfrm rot="0">
            <a:off x="1930400" y="1955800"/>
            <a:ext cx="14579600" cy="1054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5900" b="false" i="false" u="none" strike="noStrike">
                <a:solidFill>
                  <a:srgbClr val="000000"/>
                </a:solidFill>
                <a:latin typeface="ELAND NiceOTF Medium"/>
              </a:rPr>
              <a:t>04 </a:t>
            </a:r>
            <a:r>
              <a:rPr lang="ko-KR" sz="5900" b="false" i="false" u="none" strike="noStrike">
                <a:solidFill>
                  <a:srgbClr val="000000"/>
                </a:solidFill>
                <a:ea typeface="ELAND NiceOTF Medium"/>
              </a:rPr>
              <a:t>기능</a:t>
            </a:r>
            <a:r>
              <a:rPr lang="en-US" sz="5900" b="false" i="false" u="none" strike="noStrike">
                <a:solidFill>
                  <a:srgbClr val="000000"/>
                </a:solidFill>
                <a:latin typeface="ELAND NiceOTF Medium"/>
              </a:rPr>
              <a:t> </a:t>
            </a:r>
            <a:r>
              <a:rPr lang="ko-KR" sz="5900" b="false" i="false" u="none" strike="noStrike">
                <a:solidFill>
                  <a:srgbClr val="000000"/>
                </a:solidFill>
                <a:ea typeface="ELAND NiceOTF Medium"/>
              </a:rPr>
              <a:t>설계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45300" y="698500"/>
            <a:ext cx="4597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Spring </a:t>
            </a:r>
            <a:r>
              <a:rPr lang="ko-KR" sz="2000" b="false" i="false" u="none" strike="noStrike">
                <a:solidFill>
                  <a:srgbClr val="FFFFFF"/>
                </a:solidFill>
                <a:ea typeface="Pretendard Light"/>
              </a:rPr>
              <a:t>백엔드</a:t>
            </a: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Pretendard Light"/>
              </a:rPr>
              <a:t>개발</a:t>
            </a: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 &amp; AWS </a:t>
            </a:r>
            <a:r>
              <a:rPr lang="ko-KR" sz="2000" b="false" i="false" u="none" strike="noStrike">
                <a:solidFill>
                  <a:srgbClr val="FFFFFF"/>
                </a:solidFill>
                <a:ea typeface="Pretendard Light"/>
              </a:rPr>
              <a:t>배포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0000" y="3225800"/>
            <a:ext cx="38989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EEEEEE"/>
                </a:solidFill>
                <a:ea typeface="ELAND NiceOTF Medium"/>
              </a:rPr>
              <a:t>메인페이지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6200" y="3771900"/>
            <a:ext cx="4419600" cy="304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교통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(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지하철역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,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버스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정류장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,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택시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승강장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등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6200" y="4254500"/>
            <a:ext cx="3873500" cy="304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의료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(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종합병원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,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치과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,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의원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,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약국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등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46200" y="4749800"/>
            <a:ext cx="3873500" cy="304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교육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(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어린이집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,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초등학교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,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중학교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등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6200" y="5207000"/>
            <a:ext cx="38735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편의시설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 </a:t>
            </a:r>
          </a:p>
          <a:p>
            <a:pPr algn="l" lvl="0">
              <a:lnSpc>
                <a:spcPct val="99600"/>
              </a:lnSpc>
            </a:pP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(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편의점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,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대형마트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,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카페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,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음식점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등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8900" y="5892800"/>
            <a:ext cx="4114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문화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및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여가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 </a:t>
            </a:r>
          </a:p>
          <a:p>
            <a:pPr algn="l" lvl="0">
              <a:lnSpc>
                <a:spcPct val="99600"/>
              </a:lnSpc>
            </a:pP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(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영화관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,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도서관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,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박물관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,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공연장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등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1600" y="6591300"/>
            <a:ext cx="43307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생활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안전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및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치안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 </a:t>
            </a:r>
          </a:p>
          <a:p>
            <a:pPr algn="l" lvl="0">
              <a:lnSpc>
                <a:spcPct val="99600"/>
              </a:lnSpc>
            </a:pP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(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경찰서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, CCTV,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범죄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발생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현황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71600" y="7264400"/>
            <a:ext cx="43307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부동산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및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주거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환경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 </a:t>
            </a:r>
          </a:p>
          <a:p>
            <a:pPr algn="l" lvl="0">
              <a:lnSpc>
                <a:spcPct val="99600"/>
              </a:lnSpc>
            </a:pP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(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부동산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시세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,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주택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유형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등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84300" y="7950200"/>
            <a:ext cx="43307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기타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서비스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 </a:t>
            </a:r>
          </a:p>
          <a:p>
            <a:pPr algn="l" lvl="0">
              <a:lnSpc>
                <a:spcPct val="99600"/>
              </a:lnSpc>
            </a:pP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(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공공기관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,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택배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수령함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,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청소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서비스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등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85000" y="3149600"/>
            <a:ext cx="3898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ELAND NiceOTF Medium"/>
              </a:rPr>
              <a:t>마이페이지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58000" y="3733800"/>
            <a:ext cx="3873500" cy="304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false" i="false" u="none" strike="noStrike">
                <a:solidFill>
                  <a:srgbClr val="000000"/>
                </a:solidFill>
                <a:ea typeface="ELAND NiceOTF Medium"/>
              </a:rPr>
              <a:t>회원정보</a:t>
            </a:r>
            <a:r>
              <a:rPr lang="en-US" sz="1700" b="false" i="false" u="none" strike="noStrike">
                <a:solidFill>
                  <a:srgbClr val="000000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ELAND NiceOTF Medium"/>
              </a:rPr>
              <a:t>수정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70700" y="4305300"/>
            <a:ext cx="3873500" cy="304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false" i="false" u="none" strike="noStrike">
                <a:solidFill>
                  <a:srgbClr val="000000"/>
                </a:solidFill>
                <a:ea typeface="ELAND NiceOTF Medium"/>
              </a:rPr>
              <a:t>회원</a:t>
            </a:r>
            <a:r>
              <a:rPr lang="en-US" sz="1700" b="false" i="false" u="none" strike="noStrike">
                <a:solidFill>
                  <a:srgbClr val="000000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ELAND NiceOTF Medium"/>
              </a:rPr>
              <a:t>탈퇴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70700" y="4876800"/>
            <a:ext cx="3873500" cy="304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false" i="false" u="none" strike="noStrike">
                <a:solidFill>
                  <a:srgbClr val="000000"/>
                </a:solidFill>
                <a:ea typeface="ELAND NiceOTF Medium"/>
              </a:rPr>
              <a:t>즐겨찾는</a:t>
            </a:r>
            <a:r>
              <a:rPr lang="en-US" sz="1700" b="false" i="false" u="none" strike="noStrike">
                <a:solidFill>
                  <a:srgbClr val="000000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ELAND NiceOTF Medium"/>
              </a:rPr>
              <a:t>동네리스트</a:t>
            </a:r>
            <a:r>
              <a:rPr lang="en-US" sz="1700" b="false" i="false" u="none" strike="noStrike">
                <a:solidFill>
                  <a:srgbClr val="000000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ELAND NiceOTF Medium"/>
              </a:rPr>
              <a:t>및</a:t>
            </a:r>
            <a:r>
              <a:rPr lang="en-US" sz="1700" b="false" i="false" u="none" strike="noStrike">
                <a:solidFill>
                  <a:srgbClr val="000000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ELAND NiceOTF Medium"/>
              </a:rPr>
              <a:t>조회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985000" y="6553200"/>
            <a:ext cx="3898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ELAND NiceOTF Medium"/>
              </a:rPr>
              <a:t>기타페이지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70700" y="7073900"/>
            <a:ext cx="3873500" cy="304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false" i="false" u="none" strike="noStrike">
                <a:solidFill>
                  <a:srgbClr val="000000"/>
                </a:solidFill>
                <a:ea typeface="ELAND NiceOTF Medium"/>
              </a:rPr>
              <a:t>커뮤니티</a:t>
            </a:r>
            <a:r>
              <a:rPr lang="en-US" sz="1700" b="false" i="false" u="none" strike="noStrike">
                <a:solidFill>
                  <a:srgbClr val="000000"/>
                </a:solidFill>
                <a:latin typeface="ELAND NiceOTF Medium"/>
              </a:rPr>
              <a:t> -&gt; </a:t>
            </a:r>
            <a:r>
              <a:rPr lang="ko-KR" sz="1700" b="false" i="false" u="none" strike="noStrike">
                <a:solidFill>
                  <a:srgbClr val="000000"/>
                </a:solidFill>
                <a:ea typeface="ELAND NiceOTF Medium"/>
              </a:rPr>
              <a:t>글</a:t>
            </a:r>
            <a:r>
              <a:rPr lang="en-US" sz="1700" b="false" i="false" u="none" strike="noStrike">
                <a:solidFill>
                  <a:srgbClr val="000000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ELAND NiceOTF Medium"/>
              </a:rPr>
              <a:t>삭제</a:t>
            </a:r>
            <a:r>
              <a:rPr lang="en-US" sz="1700" b="false" i="false" u="none" strike="noStrike">
                <a:solidFill>
                  <a:srgbClr val="000000"/>
                </a:solidFill>
                <a:latin typeface="ELAND NiceOTF Medium"/>
              </a:rPr>
              <a:t>/</a:t>
            </a:r>
            <a:r>
              <a:rPr lang="ko-KR" sz="1700" b="false" i="false" u="none" strike="noStrike">
                <a:solidFill>
                  <a:srgbClr val="000000"/>
                </a:solidFill>
                <a:ea typeface="ELAND NiceOTF Medium"/>
              </a:rPr>
              <a:t>수정</a:t>
            </a:r>
            <a:r>
              <a:rPr lang="en-US" sz="1700" b="false" i="false" u="none" strike="noStrike">
                <a:solidFill>
                  <a:srgbClr val="000000"/>
                </a:solidFill>
                <a:latin typeface="ELAND NiceOTF Medium"/>
              </a:rPr>
              <a:t>/</a:t>
            </a:r>
            <a:r>
              <a:rPr lang="ko-KR" sz="1700" b="false" i="false" u="none" strike="noStrike">
                <a:solidFill>
                  <a:srgbClr val="000000"/>
                </a:solidFill>
                <a:ea typeface="ELAND NiceOTF Medium"/>
              </a:rPr>
              <a:t>작성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870700" y="7581900"/>
            <a:ext cx="3873500" cy="304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false" i="false" u="none" strike="noStrike">
                <a:solidFill>
                  <a:srgbClr val="000000"/>
                </a:solidFill>
                <a:ea typeface="ELAND NiceOTF Medium"/>
              </a:rPr>
              <a:t>회원가입</a:t>
            </a:r>
            <a:r>
              <a:rPr lang="en-US" sz="1700" b="false" i="false" u="none" strike="noStrike">
                <a:solidFill>
                  <a:srgbClr val="000000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ELAND NiceOTF Medium"/>
              </a:rPr>
              <a:t>페이지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883400" y="8128000"/>
            <a:ext cx="3873500" cy="304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false" i="false" u="none" strike="noStrike">
                <a:solidFill>
                  <a:srgbClr val="000000"/>
                </a:solidFill>
                <a:ea typeface="ELAND NiceOTF Medium"/>
              </a:rPr>
              <a:t>로그인</a:t>
            </a:r>
            <a:r>
              <a:rPr lang="en-US" sz="1700" b="false" i="false" u="none" strike="noStrike">
                <a:solidFill>
                  <a:srgbClr val="000000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ELAND NiceOTF Medium"/>
              </a:rPr>
              <a:t>페이지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674600" y="3225800"/>
            <a:ext cx="38989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EEEEEE"/>
                </a:solidFill>
                <a:ea typeface="ELAND NiceOTF Medium"/>
              </a:rPr>
              <a:t>관리자</a:t>
            </a:r>
            <a:r>
              <a:rPr lang="en-US" sz="28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2800" b="false" i="false" u="none" strike="noStrike">
                <a:solidFill>
                  <a:srgbClr val="EEEEEE"/>
                </a:solidFill>
                <a:ea typeface="ELAND NiceOTF Medium"/>
              </a:rPr>
              <a:t>페이지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585700" y="3746500"/>
            <a:ext cx="4419600" cy="82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커뮤니티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관리</a:t>
            </a:r>
          </a:p>
          <a:p>
            <a:pPr algn="l" lvl="0">
              <a:lnSpc>
                <a:spcPct val="99600"/>
              </a:lnSpc>
            </a:pP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/>
            </a:r>
          </a:p>
          <a:p>
            <a:pPr algn="l" lvl="0">
              <a:lnSpc>
                <a:spcPct val="99600"/>
              </a:lnSpc>
            </a:pP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 -&gt;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게시글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삭제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및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댓글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관리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598400" y="4978400"/>
            <a:ext cx="4419600" cy="1333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회원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관리</a:t>
            </a:r>
          </a:p>
          <a:p>
            <a:pPr algn="l" lvl="0">
              <a:lnSpc>
                <a:spcPct val="99600"/>
              </a:lnSpc>
            </a:pP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/>
            </a:r>
          </a:p>
          <a:p>
            <a:pPr algn="l" lvl="0" indent="-342900" marL="342900">
              <a:lnSpc>
                <a:spcPct val="99600"/>
              </a:lnSpc>
              <a:buClr>
                <a:srgbClr val="EEEEEE"/>
              </a:buClr>
              <a:buFont typeface="Arial"/>
              <a:buChar char="●"/>
            </a:pP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회원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수정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및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삭제</a:t>
            </a:r>
          </a:p>
          <a:p>
            <a:pPr algn="l" lvl="0">
              <a:lnSpc>
                <a:spcPct val="99600"/>
              </a:lnSpc>
            </a:pP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/>
            </a:r>
          </a:p>
          <a:p>
            <a:pPr algn="l" lvl="0" indent="-342900" marL="342900">
              <a:lnSpc>
                <a:spcPct val="99600"/>
              </a:lnSpc>
              <a:buClr>
                <a:srgbClr val="EEEEEE"/>
              </a:buClr>
              <a:buFont typeface="Arial"/>
              <a:buChar char="●"/>
            </a:pP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회원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검색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및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정보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확인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598400" y="6692900"/>
            <a:ext cx="4419600" cy="1333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도움말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관리</a:t>
            </a:r>
          </a:p>
          <a:p>
            <a:pPr algn="l" lvl="0">
              <a:lnSpc>
                <a:spcPct val="99600"/>
              </a:lnSpc>
            </a:pP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/>
            </a:r>
          </a:p>
          <a:p>
            <a:pPr algn="l" lvl="0" indent="-342900" marL="342900">
              <a:lnSpc>
                <a:spcPct val="99600"/>
              </a:lnSpc>
              <a:buClr>
                <a:srgbClr val="EEEEEE"/>
              </a:buClr>
              <a:buFont typeface="Arial"/>
              <a:buChar char="●"/>
            </a:pP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도움말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제공</a:t>
            </a:r>
          </a:p>
          <a:p>
            <a:pPr algn="l" lvl="0">
              <a:lnSpc>
                <a:spcPct val="99600"/>
              </a:lnSpc>
            </a:pP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/>
            </a:r>
          </a:p>
          <a:p>
            <a:pPr algn="l" lvl="0" indent="-342900" marL="342900">
              <a:lnSpc>
                <a:spcPct val="99600"/>
              </a:lnSpc>
              <a:buClr>
                <a:srgbClr val="EEEEEE"/>
              </a:buClr>
              <a:buFont typeface="Arial"/>
              <a:buChar char="●"/>
            </a:pP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도움말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작성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및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수정</a:t>
            </a:r>
            <a:r>
              <a:rPr lang="en-US" sz="1700" b="false" i="false" u="none" strike="noStrike">
                <a:solidFill>
                  <a:srgbClr val="EEEEEE"/>
                </a:solidFill>
                <a:latin typeface="ELAND NiceOTF Medium"/>
              </a:rPr>
              <a:t>, </a:t>
            </a:r>
            <a:r>
              <a:rPr lang="ko-KR" sz="1700" b="false" i="false" u="none" strike="noStrike">
                <a:solidFill>
                  <a:srgbClr val="EEEEEE"/>
                </a:solidFill>
                <a:ea typeface="ELAND NiceOTF Medium"/>
              </a:rPr>
              <a:t>삭제</a:t>
            </a:r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57200" y="520700"/>
            <a:ext cx="17360900" cy="9423400"/>
          </a:xfrm>
          <a:prstGeom prst="rect">
            <a:avLst/>
          </a:prstGeom>
          <a:effectLst>
            <a:outerShdw dir="4020000" dist="362644" blurRad="1106733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39800" y="774700"/>
            <a:ext cx="228600" cy="22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08100" y="774700"/>
            <a:ext cx="228600" cy="22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63700" y="774700"/>
            <a:ext cx="2286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60500" y="2971800"/>
            <a:ext cx="3949700" cy="1803400"/>
          </a:xfrm>
          <a:prstGeom prst="rect">
            <a:avLst/>
          </a:prstGeom>
          <a:effectLst>
            <a:outerShdw dir="4020000" dist="69203" blurRad="80605">
              <a:srgbClr val="000000">
                <a:alpha val="20000"/>
              </a:srgbClr>
            </a:outerShdw>
          </a:effectLst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257800" y="2971800"/>
            <a:ext cx="3949700" cy="1803400"/>
          </a:xfrm>
          <a:prstGeom prst="rect">
            <a:avLst/>
          </a:prstGeom>
          <a:effectLst>
            <a:outerShdw dir="4020000" dist="69203" blurRad="80605">
              <a:srgbClr val="000000">
                <a:alpha val="20000"/>
              </a:srgbClr>
            </a:outerShdw>
          </a:effectLst>
        </p:spPr>
      </p:pic>
      <p:sp>
        <p:nvSpPr>
          <p:cNvPr name="TextBox 11" id="11"/>
          <p:cNvSpPr txBox="true"/>
          <p:nvPr/>
        </p:nvSpPr>
        <p:spPr>
          <a:xfrm rot="0">
            <a:off x="5473700" y="6007100"/>
            <a:ext cx="35814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717377"/>
                </a:solidFill>
                <a:ea typeface="ELAND NiceOTF Medium"/>
              </a:rPr>
              <a:t>교통</a:t>
            </a:r>
            <a:r>
              <a:rPr lang="en-US" sz="2200" b="false" i="false" u="none" strike="noStrike">
                <a:solidFill>
                  <a:srgbClr val="717377"/>
                </a:solidFill>
                <a:latin typeface="ELAND NiceOTF Medium"/>
              </a:rPr>
              <a:t> </a:t>
            </a:r>
            <a:r>
              <a:rPr lang="ko-KR" sz="2200" b="false" i="false" u="none" strike="noStrike">
                <a:solidFill>
                  <a:srgbClr val="717377"/>
                </a:solidFill>
                <a:ea typeface="ELAND NiceOTF Medium"/>
              </a:rPr>
              <a:t>및</a:t>
            </a:r>
            <a:r>
              <a:rPr lang="en-US" sz="2200" b="false" i="false" u="none" strike="noStrike">
                <a:solidFill>
                  <a:srgbClr val="717377"/>
                </a:solidFill>
                <a:latin typeface="ELAND NiceOTF Medium"/>
              </a:rPr>
              <a:t> </a:t>
            </a:r>
            <a:r>
              <a:rPr lang="ko-KR" sz="2200" b="false" i="false" u="none" strike="noStrike">
                <a:solidFill>
                  <a:srgbClr val="717377"/>
                </a:solidFill>
                <a:ea typeface="ELAND NiceOTF Medium"/>
              </a:rPr>
              <a:t>의료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067800" y="2971800"/>
            <a:ext cx="3949700" cy="1803400"/>
          </a:xfrm>
          <a:prstGeom prst="rect">
            <a:avLst/>
          </a:prstGeom>
          <a:effectLst>
            <a:outerShdw dir="4020000" dist="69203" blurRad="80605">
              <a:srgbClr val="000000">
                <a:alpha val="20000"/>
              </a:srgbClr>
            </a:outerShdw>
          </a:effectLst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877800" y="2971800"/>
            <a:ext cx="3949700" cy="1803400"/>
          </a:xfrm>
          <a:prstGeom prst="rect">
            <a:avLst/>
          </a:prstGeom>
          <a:effectLst>
            <a:outerShdw dir="4020000" dist="69203" blurRad="80605">
              <a:srgbClr val="000000">
                <a:alpha val="20000"/>
              </a:srgbClr>
            </a:outerShdw>
          </a:effectLst>
        </p:spPr>
      </p:pic>
      <p:sp>
        <p:nvSpPr>
          <p:cNvPr name="TextBox 14" id="14"/>
          <p:cNvSpPr txBox="true"/>
          <p:nvPr/>
        </p:nvSpPr>
        <p:spPr>
          <a:xfrm rot="0">
            <a:off x="6845300" y="698500"/>
            <a:ext cx="4597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Spring </a:t>
            </a:r>
            <a:r>
              <a:rPr lang="ko-KR" sz="2000" b="false" i="false" u="none" strike="noStrike">
                <a:solidFill>
                  <a:srgbClr val="FFFFFF"/>
                </a:solidFill>
                <a:ea typeface="Pretendard Light"/>
              </a:rPr>
              <a:t>백엔드</a:t>
            </a: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Pretendard Light"/>
              </a:rPr>
              <a:t>개발</a:t>
            </a: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 &amp; AWS </a:t>
            </a:r>
            <a:r>
              <a:rPr lang="ko-KR" sz="2000" b="false" i="false" u="none" strike="noStrike">
                <a:solidFill>
                  <a:srgbClr val="FFFFFF"/>
                </a:solidFill>
                <a:ea typeface="Pretendard Light"/>
              </a:rPr>
              <a:t>배포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6400" y="5372100"/>
            <a:ext cx="35941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FC5230"/>
                </a:solidFill>
                <a:ea typeface="ELAND NiceOTF Medium"/>
              </a:rPr>
              <a:t>팀장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76400" y="6019800"/>
            <a:ext cx="35687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100" b="false" i="false" u="none" strike="noStrike">
                <a:solidFill>
                  <a:srgbClr val="717377"/>
                </a:solidFill>
                <a:ea typeface="ELAND NiceOTF Medium"/>
              </a:rPr>
              <a:t>편의시설</a:t>
            </a:r>
            <a:r>
              <a:rPr lang="en-US" sz="2100" b="false" i="false" u="none" strike="noStrike">
                <a:solidFill>
                  <a:srgbClr val="717377"/>
                </a:solidFill>
                <a:latin typeface="ELAND NiceOTF Medium"/>
              </a:rPr>
              <a:t> </a:t>
            </a:r>
            <a:r>
              <a:rPr lang="ko-KR" sz="2100" b="false" i="false" u="none" strike="noStrike">
                <a:solidFill>
                  <a:srgbClr val="717377"/>
                </a:solidFill>
                <a:ea typeface="ELAND NiceOTF Medium"/>
              </a:rPr>
              <a:t>및</a:t>
            </a:r>
            <a:r>
              <a:rPr lang="en-US" sz="2100" b="false" i="false" u="none" strike="noStrike">
                <a:solidFill>
                  <a:srgbClr val="717377"/>
                </a:solidFill>
                <a:latin typeface="ELAND NiceOTF Medium"/>
              </a:rPr>
              <a:t> </a:t>
            </a:r>
            <a:r>
              <a:rPr lang="ko-KR" sz="2100" b="false" i="false" u="none" strike="noStrike">
                <a:solidFill>
                  <a:srgbClr val="717377"/>
                </a:solidFill>
                <a:ea typeface="ELAND NiceOTF Medium"/>
              </a:rPr>
              <a:t>문화</a:t>
            </a:r>
            <a:r>
              <a:rPr lang="en-US" sz="2100" b="false" i="false" u="none" strike="noStrike">
                <a:solidFill>
                  <a:srgbClr val="717377"/>
                </a:solidFill>
                <a:latin typeface="ELAND NiceOTF Medium"/>
              </a:rPr>
              <a:t>, </a:t>
            </a:r>
            <a:r>
              <a:rPr lang="ko-KR" sz="2100" b="false" i="false" u="none" strike="noStrike">
                <a:solidFill>
                  <a:srgbClr val="717377"/>
                </a:solidFill>
                <a:ea typeface="ELAND NiceOTF Medium"/>
              </a:rPr>
              <a:t>여가</a:t>
            </a:r>
            <a:r>
              <a:rPr lang="en-US" sz="2100" b="false" i="false" u="none" strike="noStrike">
                <a:solidFill>
                  <a:srgbClr val="717377"/>
                </a:solidFill>
                <a:latin typeface="ELAND NiceOTF Medium"/>
              </a:rPr>
              <a:t> </a:t>
            </a:r>
            <a:r>
              <a:rPr lang="ko-KR" sz="2100" b="false" i="false" u="none" strike="noStrike">
                <a:solidFill>
                  <a:srgbClr val="717377"/>
                </a:solidFill>
                <a:ea typeface="ELAND NiceOTF Medium"/>
              </a:rPr>
              <a:t>시설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86400" y="5372100"/>
            <a:ext cx="35941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58CCFF"/>
                </a:solidFill>
                <a:ea typeface="ELAND NiceOTF Medium"/>
              </a:rPr>
              <a:t>팀원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96400" y="5372100"/>
            <a:ext cx="35941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58CCFF"/>
                </a:solidFill>
                <a:ea typeface="ELAND NiceOTF Medium"/>
              </a:rPr>
              <a:t>팀원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18600" y="6007100"/>
            <a:ext cx="37973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717377"/>
                </a:solidFill>
                <a:ea typeface="ELAND NiceOTF Medium"/>
              </a:rPr>
              <a:t>교육</a:t>
            </a:r>
            <a:r>
              <a:rPr lang="en-US" sz="2200" b="false" i="false" u="none" strike="noStrike">
                <a:solidFill>
                  <a:srgbClr val="717377"/>
                </a:solidFill>
                <a:latin typeface="ELAND NiceOTF Medium"/>
              </a:rPr>
              <a:t> </a:t>
            </a:r>
            <a:r>
              <a:rPr lang="ko-KR" sz="2200" b="false" i="false" u="none" strike="noStrike">
                <a:solidFill>
                  <a:srgbClr val="717377"/>
                </a:solidFill>
                <a:ea typeface="ELAND NiceOTF Medium"/>
              </a:rPr>
              <a:t>시설</a:t>
            </a:r>
            <a:r>
              <a:rPr lang="en-US" sz="2200" b="false" i="false" u="none" strike="noStrike">
                <a:solidFill>
                  <a:srgbClr val="717377"/>
                </a:solidFill>
                <a:latin typeface="ELAND NiceOTF Medium"/>
              </a:rPr>
              <a:t> </a:t>
            </a:r>
            <a:r>
              <a:rPr lang="ko-KR" sz="2200" b="false" i="false" u="none" strike="noStrike">
                <a:solidFill>
                  <a:srgbClr val="717377"/>
                </a:solidFill>
                <a:ea typeface="ELAND NiceOTF Medium"/>
              </a:rPr>
              <a:t>및</a:t>
            </a:r>
            <a:r>
              <a:rPr lang="en-US" sz="2200" b="false" i="false" u="none" strike="noStrike">
                <a:solidFill>
                  <a:srgbClr val="717377"/>
                </a:solidFill>
                <a:latin typeface="ELAND NiceOTF Medium"/>
              </a:rPr>
              <a:t> </a:t>
            </a:r>
            <a:r>
              <a:rPr lang="ko-KR" sz="2200" b="false" i="false" u="none" strike="noStrike">
                <a:solidFill>
                  <a:srgbClr val="717377"/>
                </a:solidFill>
                <a:ea typeface="ELAND NiceOTF Medium"/>
              </a:rPr>
              <a:t>부동산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06400" y="5372100"/>
            <a:ext cx="35941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58CCFF"/>
                </a:solidFill>
                <a:ea typeface="ELAND NiceOTF Medium"/>
              </a:rPr>
              <a:t>팀원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093700" y="6007100"/>
            <a:ext cx="32893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4499"/>
              </a:lnSpc>
              <a:defRPr/>
            </a:pPr>
            <a:r>
              <a:rPr lang="ko-KR" sz="2200" b="0" i="0" u="none" strike="noStrike">
                <a:solidFill>
                  <a:srgbClr val="717377"/>
                </a:solidFill>
                <a:ea typeface="ELAND NiceOTF Medium"/>
              </a:rPr>
              <a:t>생활</a:t>
            </a:r>
            <a:r>
              <a:rPr lang="en-US" sz="2200" b="0" i="0" u="none" strike="noStrike">
                <a:solidFill>
                  <a:srgbClr val="717377"/>
                </a:solidFill>
                <a:latin typeface="ELAND NiceOTF Medium"/>
              </a:rPr>
              <a:t> </a:t>
            </a:r>
            <a:r>
              <a:rPr lang="ko-KR" sz="2200" b="0" i="0" u="none" strike="noStrike">
                <a:solidFill>
                  <a:srgbClr val="717377"/>
                </a:solidFill>
                <a:ea typeface="ELAND NiceOTF Medium"/>
              </a:rPr>
              <a:t>안전</a:t>
            </a:r>
            <a:r>
              <a:rPr lang="en-US" sz="2200" b="0" i="0" u="none" strike="noStrike">
                <a:solidFill>
                  <a:srgbClr val="717377"/>
                </a:solidFill>
                <a:latin typeface="ELAND NiceOTF Medium"/>
              </a:rPr>
              <a:t> </a:t>
            </a:r>
            <a:r>
              <a:rPr lang="ko-KR" sz="2200" b="0" i="0" u="none" strike="noStrike">
                <a:solidFill>
                  <a:srgbClr val="717377"/>
                </a:solidFill>
                <a:ea typeface="ELAND NiceOTF Medium"/>
              </a:rPr>
              <a:t>및</a:t>
            </a:r>
            <a:r>
              <a:rPr lang="en-US" sz="2200" b="0" i="0" u="none" strike="noStrike">
                <a:solidFill>
                  <a:srgbClr val="717377"/>
                </a:solidFill>
                <a:latin typeface="ELAND NiceOTF Medium"/>
              </a:rPr>
              <a:t> </a:t>
            </a:r>
            <a:r>
              <a:rPr lang="ko-KR" sz="2200" b="0" i="0" u="none" strike="noStrike">
                <a:solidFill>
                  <a:srgbClr val="717377"/>
                </a:solidFill>
                <a:ea typeface="ELAND NiceOTF Medium"/>
              </a:rPr>
              <a:t>기타</a:t>
            </a:r>
            <a:r>
              <a:rPr lang="en-US" sz="2200" b="0" i="0" u="none" strike="noStrike">
                <a:solidFill>
                  <a:srgbClr val="717377"/>
                </a:solidFill>
                <a:latin typeface="ELAND NiceOTF Medium"/>
              </a:rPr>
              <a:t> </a:t>
            </a:r>
            <a:r>
              <a:rPr lang="ko-KR" sz="2200" b="0" i="0" u="none" strike="noStrike">
                <a:solidFill>
                  <a:srgbClr val="717377"/>
                </a:solidFill>
                <a:ea typeface="ELAND NiceOTF Medium"/>
              </a:rPr>
              <a:t>서비스</a:t>
            </a:r>
            <a:endParaRPr lang="ko-KR" sz="2200" b="0" i="0" u="none" strike="noStrike">
              <a:solidFill>
                <a:srgbClr val="717377"/>
              </a:solidFill>
              <a:ea typeface="ELAND NiceOTF Medium"/>
            </a:endParaRPr>
          </a:p>
        </p:txBody>
      </p:sp>
      <p:sp>
        <p:nvSpPr>
          <p:cNvPr name="TextBox 22" id="22"/>
          <p:cNvSpPr txBox="true"/>
          <p:nvPr/>
        </p:nvSpPr>
        <p:spPr>
          <a:xfrm rot="0">
            <a:off x="1930400" y="1955800"/>
            <a:ext cx="14579600" cy="1054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5900" b="false" i="false" u="none" strike="noStrike">
                <a:solidFill>
                  <a:srgbClr val="000000"/>
                </a:solidFill>
                <a:latin typeface="ELAND NiceOTF Medium"/>
              </a:rPr>
              <a:t>05 </a:t>
            </a:r>
            <a:r>
              <a:rPr lang="ko-KR" sz="5900" b="false" i="false" u="none" strike="noStrike">
                <a:solidFill>
                  <a:srgbClr val="000000"/>
                </a:solidFill>
                <a:ea typeface="ELAND NiceOTF Medium"/>
              </a:rPr>
              <a:t>팀원</a:t>
            </a:r>
            <a:r>
              <a:rPr lang="en-US" sz="5900" b="false" i="false" u="none" strike="noStrike">
                <a:solidFill>
                  <a:srgbClr val="000000"/>
                </a:solidFill>
                <a:latin typeface="ELAND NiceOTF Medium"/>
              </a:rPr>
              <a:t> </a:t>
            </a:r>
            <a:r>
              <a:rPr lang="ko-KR" sz="5900" b="false" i="false" u="none" strike="noStrike">
                <a:solidFill>
                  <a:srgbClr val="000000"/>
                </a:solidFill>
                <a:ea typeface="ELAND NiceOTF Medium"/>
              </a:rPr>
              <a:t>소개</a:t>
            </a:r>
            <a:r>
              <a:rPr lang="en-US" sz="5900" b="false" i="false" u="none" strike="noStrike">
                <a:solidFill>
                  <a:srgbClr val="000000"/>
                </a:solidFill>
                <a:latin typeface="ELAND NiceOTF Medium"/>
              </a:rPr>
              <a:t> </a:t>
            </a:r>
            <a:r>
              <a:rPr lang="ko-KR" sz="5900" b="false" i="false" u="none" strike="noStrike">
                <a:solidFill>
                  <a:srgbClr val="000000"/>
                </a:solidFill>
                <a:ea typeface="ELAND NiceOTF Medium"/>
              </a:rPr>
              <a:t>및</a:t>
            </a:r>
            <a:r>
              <a:rPr lang="en-US" sz="5900" b="false" i="false" u="none" strike="noStrike">
                <a:solidFill>
                  <a:srgbClr val="000000"/>
                </a:solidFill>
                <a:latin typeface="ELAND NiceOTF Medium"/>
              </a:rPr>
              <a:t> </a:t>
            </a:r>
            <a:r>
              <a:rPr lang="ko-KR" sz="5900" b="false" i="false" u="none" strike="noStrike">
                <a:solidFill>
                  <a:srgbClr val="000000"/>
                </a:solidFill>
                <a:ea typeface="ELAND NiceOTF Medium"/>
              </a:rPr>
              <a:t>역할</a:t>
            </a:r>
            <a:r>
              <a:rPr lang="en-US" sz="5900" b="false" i="false" u="none" strike="noStrike">
                <a:solidFill>
                  <a:srgbClr val="000000"/>
                </a:solidFill>
                <a:latin typeface="ELAND NiceOTF Medium"/>
              </a:rPr>
              <a:t> </a:t>
            </a:r>
            <a:r>
              <a:rPr lang="ko-KR" sz="5900" b="false" i="false" u="none" strike="noStrike">
                <a:solidFill>
                  <a:srgbClr val="000000"/>
                </a:solidFill>
                <a:ea typeface="ELAND NiceOTF Medium"/>
              </a:rPr>
              <a:t>분담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578100" y="3530600"/>
            <a:ext cx="19050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4500" b="false" i="false" u="none" strike="noStrike">
                <a:solidFill>
                  <a:srgbClr val="000000"/>
                </a:solidFill>
                <a:ea typeface="ELAND NiceOTF Medium"/>
              </a:rPr>
              <a:t>현재진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50000" y="3530600"/>
            <a:ext cx="1905000" cy="800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sz="4500" b="0" i="0" u="none" strike="noStrike">
                <a:solidFill>
                  <a:srgbClr val="000000"/>
                </a:solidFill>
                <a:ea typeface="ELAND NiceOTF Medium"/>
              </a:rPr>
              <a:t>이무</a:t>
            </a:r>
            <a:r>
              <a:rPr lang="ko-KR" altLang="en-US" sz="4500" b="0" i="0" u="none" strike="noStrike">
                <a:solidFill>
                  <a:srgbClr val="000000"/>
                </a:solidFill>
                <a:ea typeface="ELAND NiceOTF Medium"/>
              </a:rPr>
              <a:t>하</a:t>
            </a:r>
            <a:endParaRPr lang="ko-KR" altLang="en-US" sz="4500" b="0" i="0" u="none" strike="noStrike">
              <a:solidFill>
                <a:srgbClr val="000000"/>
              </a:solidFill>
              <a:ea typeface="ELAND NiceOTF Medium"/>
            </a:endParaRPr>
          </a:p>
        </p:txBody>
      </p:sp>
      <p:sp>
        <p:nvSpPr>
          <p:cNvPr name="TextBox 25" id="25"/>
          <p:cNvSpPr txBox="true"/>
          <p:nvPr/>
        </p:nvSpPr>
        <p:spPr>
          <a:xfrm rot="0">
            <a:off x="10160000" y="3467100"/>
            <a:ext cx="19050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4500" b="false" i="false" u="none" strike="noStrike">
                <a:solidFill>
                  <a:srgbClr val="000000"/>
                </a:solidFill>
                <a:ea typeface="ELAND NiceOTF Medium"/>
              </a:rPr>
              <a:t>이승준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970000" y="3530600"/>
            <a:ext cx="19050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4500" b="false" i="false" u="none" strike="noStrike">
                <a:solidFill>
                  <a:srgbClr val="000000"/>
                </a:solidFill>
                <a:ea typeface="ELAND NiceOTF Medium"/>
              </a:rPr>
              <a:t>김희수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68500" y="7581900"/>
            <a:ext cx="17018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파트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분배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68500" y="7937500"/>
            <a:ext cx="17018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기획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39900" y="8001000"/>
            <a:ext cx="139700" cy="15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900" b="false" i="false" u="none" strike="noStrike">
                <a:solidFill>
                  <a:srgbClr val="9E9E9E"/>
                </a:solidFill>
                <a:ea typeface="Noto Sans CJK KR Regular"/>
              </a:rPr>
              <a:t>●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968500" y="6451600"/>
            <a:ext cx="30734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게시글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삭제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및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댓글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관리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기능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구현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27200" y="6502400"/>
            <a:ext cx="139700" cy="15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900" b="false" i="false" u="none" strike="noStrike">
                <a:solidFill>
                  <a:srgbClr val="9E9E9E"/>
                </a:solidFill>
                <a:ea typeface="Noto Sans CJK KR Regular"/>
              </a:rPr>
              <a:t>●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27200" y="6858000"/>
            <a:ext cx="139700" cy="15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900" b="false" i="false" u="none" strike="noStrike">
                <a:solidFill>
                  <a:srgbClr val="9E9E9E"/>
                </a:solidFill>
                <a:ea typeface="Noto Sans CJK KR Regular"/>
              </a:rPr>
              <a:t>●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27200" y="7239000"/>
            <a:ext cx="139700" cy="15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900" b="false" i="false" u="none" strike="noStrike">
                <a:solidFill>
                  <a:srgbClr val="9E9E9E"/>
                </a:solidFill>
                <a:ea typeface="Noto Sans CJK KR Regular"/>
              </a:rPr>
              <a:t>●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39900" y="7607300"/>
            <a:ext cx="139700" cy="15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900" b="false" i="false" u="none" strike="noStrike">
                <a:solidFill>
                  <a:srgbClr val="9E9E9E"/>
                </a:solidFill>
                <a:ea typeface="Noto Sans CJK KR Regular"/>
              </a:rPr>
              <a:t>●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968500" y="6832600"/>
            <a:ext cx="30734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회원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수정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및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삭제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기능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구현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81200" y="7200900"/>
            <a:ext cx="30734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회원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검색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및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정보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확인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기능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구현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753100" y="6451600"/>
            <a:ext cx="30734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카테고리별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상세보기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기능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구현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511800" y="6502400"/>
            <a:ext cx="139700" cy="15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900" b="false" i="false" u="none" strike="noStrike">
                <a:solidFill>
                  <a:srgbClr val="9E9E9E"/>
                </a:solidFill>
                <a:ea typeface="Noto Sans CJK KR Regular"/>
              </a:rPr>
              <a:t>●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511800" y="6858000"/>
            <a:ext cx="139700" cy="15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900" b="false" i="false" u="none" strike="noStrike">
                <a:solidFill>
                  <a:srgbClr val="9E9E9E"/>
                </a:solidFill>
                <a:ea typeface="Noto Sans CJK KR Regular"/>
              </a:rPr>
              <a:t>●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511800" y="7239000"/>
            <a:ext cx="139700" cy="15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900" b="false" i="false" u="none" strike="noStrike">
                <a:solidFill>
                  <a:srgbClr val="9E9E9E"/>
                </a:solidFill>
                <a:ea typeface="Noto Sans CJK KR Regular"/>
              </a:rPr>
              <a:t>●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753100" y="6832600"/>
            <a:ext cx="30734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메인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페이지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UI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및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통합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기능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구현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765800" y="7200900"/>
            <a:ext cx="30734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메인페이지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 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구현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182100" y="6477000"/>
            <a:ext cx="139700" cy="15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900" b="false" i="false" u="none" strike="noStrike">
                <a:solidFill>
                  <a:srgbClr val="9E9E9E"/>
                </a:solidFill>
                <a:ea typeface="Noto Sans CJK KR Regular"/>
              </a:rPr>
              <a:t>●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423400" y="6438900"/>
            <a:ext cx="32893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도움말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작성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및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수정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,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삭제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기능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구현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373100" y="6464300"/>
            <a:ext cx="30734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회원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가입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및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로그인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기능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구현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144500" y="6515100"/>
            <a:ext cx="139700" cy="15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900" b="false" i="false" u="none" strike="noStrike">
                <a:solidFill>
                  <a:srgbClr val="9E9E9E"/>
                </a:solidFill>
                <a:ea typeface="Noto Sans CJK KR Regular"/>
              </a:rPr>
              <a:t>●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131800" y="6870700"/>
            <a:ext cx="139700" cy="15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900" b="false" i="false" u="none" strike="noStrike">
                <a:solidFill>
                  <a:srgbClr val="9E9E9E"/>
                </a:solidFill>
                <a:ea typeface="Noto Sans CJK KR Regular"/>
              </a:rPr>
              <a:t>●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144500" y="7239000"/>
            <a:ext cx="139700" cy="15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900" b="false" i="false" u="none" strike="noStrike">
                <a:solidFill>
                  <a:srgbClr val="9E9E9E"/>
                </a:solidFill>
                <a:ea typeface="Noto Sans CJK KR Regular"/>
              </a:rPr>
              <a:t>●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385800" y="6832600"/>
            <a:ext cx="30734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회원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정보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수정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및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탈퇴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기능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구현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385800" y="7213600"/>
            <a:ext cx="34798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즐겨찾는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동네리스트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및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조회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기능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구현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182100" y="6870700"/>
            <a:ext cx="139700" cy="15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900" b="false" i="false" u="none" strike="noStrike">
                <a:solidFill>
                  <a:srgbClr val="9E9E9E"/>
                </a:solidFill>
                <a:ea typeface="Noto Sans CJK KR Regular"/>
              </a:rPr>
              <a:t>●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423400" y="6845300"/>
            <a:ext cx="30734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커뮤니티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글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삭제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/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수정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/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작성</a:t>
            </a:r>
          </a:p>
          <a:p>
            <a:pPr algn="l" lvl="0">
              <a:lnSpc>
                <a:spcPct val="124499"/>
              </a:lnSpc>
            </a:pP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 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기능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구현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739900" y="8382000"/>
            <a:ext cx="139700" cy="15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900" b="false" i="false" u="none" strike="noStrike">
                <a:solidFill>
                  <a:srgbClr val="9E9E9E"/>
                </a:solidFill>
                <a:ea typeface="Noto Sans CJK KR Regular"/>
              </a:rPr>
              <a:t>●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993900" y="8356600"/>
            <a:ext cx="30734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관리자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페이지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제작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및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구현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182100" y="7620000"/>
            <a:ext cx="139700" cy="15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900" b="false" i="false" u="none" strike="noStrike">
                <a:solidFill>
                  <a:srgbClr val="9E9E9E"/>
                </a:solidFill>
                <a:ea typeface="Noto Sans CJK KR Regular"/>
              </a:rPr>
              <a:t>●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423400" y="7581900"/>
            <a:ext cx="32893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교육시설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및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부동산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시세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데이터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수집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144500" y="7620000"/>
            <a:ext cx="139700" cy="15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900" b="false" i="false" u="none" strike="noStrike">
                <a:solidFill>
                  <a:srgbClr val="9E9E9E"/>
                </a:solidFill>
                <a:ea typeface="Noto Sans CJK KR Regular"/>
              </a:rPr>
              <a:t>●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398500" y="7581900"/>
            <a:ext cx="32893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로그인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,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회원가입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,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마이페이지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구현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182100" y="8001000"/>
            <a:ext cx="139700" cy="15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900" b="false" i="false" u="none" strike="noStrike">
                <a:solidFill>
                  <a:srgbClr val="9E9E9E"/>
                </a:solidFill>
                <a:ea typeface="Noto Sans CJK KR Regular"/>
              </a:rPr>
              <a:t>●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436100" y="7962900"/>
            <a:ext cx="32893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커뮤니티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(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후기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,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도움말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)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페이지</a:t>
            </a:r>
            <a:r>
              <a:rPr lang="en-US" sz="1600" b="false" i="false" u="none" strike="noStrike">
                <a:solidFill>
                  <a:srgbClr val="9E9E9E"/>
                </a:solidFill>
                <a:latin typeface="ELAND NiceOTF Medium"/>
              </a:rPr>
              <a:t> </a:t>
            </a:r>
            <a:r>
              <a:rPr lang="ko-KR" sz="1600" b="false" i="false" u="none" strike="noStrike">
                <a:solidFill>
                  <a:srgbClr val="9E9E9E"/>
                </a:solidFill>
                <a:ea typeface="ELAND NiceOTF Medium"/>
              </a:rPr>
              <a:t>구현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57200" y="431800"/>
            <a:ext cx="17360900" cy="9423400"/>
          </a:xfrm>
          <a:prstGeom prst="rect">
            <a:avLst/>
          </a:prstGeom>
          <a:effectLst>
            <a:outerShdw dir="4020000" dist="362644" blurRad="1106733">
              <a:srgbClr val="000000">
                <a:alpha val="5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39800" y="774700"/>
            <a:ext cx="228600" cy="22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08100" y="774700"/>
            <a:ext cx="228600" cy="22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63700" y="774700"/>
            <a:ext cx="2286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57200" y="2768600"/>
            <a:ext cx="17360900" cy="70866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6845300" y="698500"/>
            <a:ext cx="4597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Spring </a:t>
            </a:r>
            <a:r>
              <a:rPr lang="ko-KR" sz="2000" b="false" i="false" u="none" strike="noStrike">
                <a:solidFill>
                  <a:srgbClr val="FFFFFF"/>
                </a:solidFill>
                <a:ea typeface="Pretendard Light"/>
              </a:rPr>
              <a:t>백엔드</a:t>
            </a: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Pretendard Light"/>
              </a:rPr>
              <a:t>개발</a:t>
            </a:r>
            <a:r>
              <a:rPr lang="en-US" sz="2000" b="false" i="false" u="none" strike="noStrike">
                <a:solidFill>
                  <a:srgbClr val="FFFFFF"/>
                </a:solidFill>
                <a:latin typeface="Pretendard Light"/>
              </a:rPr>
              <a:t> &amp; AWS </a:t>
            </a:r>
            <a:r>
              <a:rPr lang="ko-KR" sz="2000" b="false" i="false" u="none" strike="noStrike">
                <a:solidFill>
                  <a:srgbClr val="FFFFFF"/>
                </a:solidFill>
                <a:ea typeface="Pretendard Light"/>
              </a:rPr>
              <a:t>배포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30400" y="1955800"/>
            <a:ext cx="14579600" cy="1054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5900" b="false" i="false" u="none" strike="noStrike">
                <a:solidFill>
                  <a:srgbClr val="000000"/>
                </a:solidFill>
                <a:latin typeface="ELAND NiceOTF Medium"/>
              </a:rPr>
              <a:t>06 Usecase &amp;ERD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8</Pages>
  <Paragraphs>150</Paragraphs>
  <Words>446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김희수</cp:lastModifiedBy>
  <cp:version>10.105.276.55868</cp:version>
  <dcterms:modified xsi:type="dcterms:W3CDTF">2025-07-01T07:10:03Z</dcterms:modified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